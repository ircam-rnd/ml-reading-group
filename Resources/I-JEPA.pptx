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Inter"/>
      <p:regular r:id="rId16"/>
      <p:bold r:id="rId17"/>
      <p:italic r:id="rId18"/>
      <p:boldItalic r:id="rId19"/>
    </p:embeddedFont>
    <p:embeddedFont>
      <p:font typeface="Source Serif 4"/>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SourceSerif4-regular.fntdata"/><Relationship Id="rId11" Type="http://schemas.openxmlformats.org/officeDocument/2006/relationships/slide" Target="slides/slide5.xml"/><Relationship Id="rId22" Type="http://schemas.openxmlformats.org/officeDocument/2006/relationships/font" Target="fonts/SourceSerif4-italic.fntdata"/><Relationship Id="rId10" Type="http://schemas.openxmlformats.org/officeDocument/2006/relationships/slide" Target="slides/slide4.xml"/><Relationship Id="rId21" Type="http://schemas.openxmlformats.org/officeDocument/2006/relationships/font" Target="fonts/SourceSerif4-bold.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SourceSerif4-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Inter-bold.fntdata"/><Relationship Id="rId16" Type="http://schemas.openxmlformats.org/officeDocument/2006/relationships/font" Target="fonts/Inter-regular.fntdata"/><Relationship Id="rId5" Type="http://schemas.openxmlformats.org/officeDocument/2006/relationships/slideMaster" Target="slideMasters/slideMaster2.xml"/><Relationship Id="rId19" Type="http://schemas.openxmlformats.org/officeDocument/2006/relationships/font" Target="fonts/Inter-boldItalic.fntdata"/><Relationship Id="rId6" Type="http://schemas.openxmlformats.org/officeDocument/2006/relationships/notesMaster" Target="notesMasters/notesMaster1.xml"/><Relationship Id="rId18" Type="http://schemas.openxmlformats.org/officeDocument/2006/relationships/font" Target="fonts/Inter-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h4dbd1a5733eb22cd_9_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h4dbd1a5733eb22cd_9_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This animates Figure 2. Every method gets two related inputs, x and y, and a loss D that scores how well they fit together. Joint-embedding methods like DINO and iBOT feed two hand-edited views of the same photo (cropped, recoloured) through two encoders and pull the embeddings together; they work well, but the edits bake in human assumptions. Generative methods like MAE hide patches and use a decoder to repaint the missing pixels, so the loss is in pixel space and the model spends effort on fine detail. JEPA keeps the masking idea but makes the prediction in embedding space: a predictor, told where the hidden block is (z), guesses what the y-encoder would output for it. I-JEPA is the image version of this third design.</a:t>
            </a:r>
            <a:endParaRPr/>
          </a:p>
        </p:txBody>
      </p:sp>
      <p:sp>
        <p:nvSpPr>
          <p:cNvPr id="60" name="Google Shape;60;h4dbd1a5733eb22cd_9_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4dbd1a5733eb22cd_9_1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h4dbd1a5733eb22cd_9_1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This animates Figure 4 with the paper's actual sampler on a 14 by 14 patch grid. Step 1: four target blocks, each covering 15 to 20 percent of the image with an aspect ratio between 0.75 and 1.5; they may overlap. Step 2: one square context block covering 85 to 100 percent. Step 3: any part of the context that overlaps a target is removed, so the model can't just copy the answer. What's left is informative but sparse, about a quarter of the patches on average. Step 4: the context encoder sees only the blue patches and the predictor has to produce an embedding for every patch in each orange block. The second loop shows a fresh random draw. The ablations on the right are why these settings were chosen: small targets or a narrow context make the task too local or too hard, and random-patch masking (the MAE style) gives far weaker features here.</a:t>
            </a:r>
            <a:endParaRPr/>
          </a:p>
        </p:txBody>
      </p:sp>
      <p:sp>
        <p:nvSpPr>
          <p:cNvPr id="76" name="Google Shape;76;h4dbd1a5733eb22cd_9_1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4dbd1a5733eb22cd_9_3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h4dbd1a5733eb22cd_9_3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This animates Figure 3, one step of training. Forward: the same image goes two ways. The context encoder, a Vision Transformer, only processes the visible context patches. The target encoder processes the full image and outputs an embedding for every patch; the target blocks are then selected from that output. Masking the output rather than the input matters: it gives 67.3 versus 56.1 on the 1%-label test (Table 11), because each target embedding already carries information from the whole image. The predictor, a narrow ViT, takes the context embeddings plus one mask token per hidden patch (a shared learned vector plus that patch's position) and predicts the embeddings. It runs once per target block, four times per image. Backward: the loss is the average squared distance between predicted and target embeddings, and only the context encoder and predictor are trained by it. EMA update: the target encoder receives no gradients; its weights become 0.996 times their old value plus 0.004 times the context encoder's, with the 0.996 rising to 1.0 over training. This asymmetry is what stops the system from collapsing to a constant output.</a:t>
            </a:r>
            <a:endParaRPr/>
          </a:p>
        </p:txBody>
      </p:sp>
      <p:sp>
        <p:nvSpPr>
          <p:cNvPr id="93" name="Google Shape;93;h4dbd1a5733eb22cd_9_3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4dbd1a5733eb22cd_9_4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h4dbd1a5733eb22cd_9_4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After pre-training, the predictor and the context encoder have done their job and are dropped. The paper evaluates with the target encoder: it is frozen, a new image goes through it, and its patch embeddings are average-pooled into a single vector (I-JEPA uses no class token). A linear layer, the only part trained at this stage, maps that vector to the answer. Swapping only the linear head lets the same frozen features do different jobs: ImageNet classification, and low-level tasks on the Clevr dataset such as counting objects (86.7) and estimating depth (72.4), where I-JEPA beats DINO and iBOT, the augmentation-based methods. The pictures in the animation are illustrations, not dataset images.</a:t>
            </a:r>
            <a:endParaRPr/>
          </a:p>
        </p:txBody>
      </p:sp>
      <p:sp>
        <p:nvSpPr>
          <p:cNvPr id="109" name="Google Shape;109;h4dbd1a5733eb22cd_9_4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h4dbd1a5733eb22cd_9_6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h4dbd1a5733eb22cd_9_6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Left chart: ImageNet-1K linear evaluation from Table 1, for methods that, like I-JEPA, use no hand-made view augmentations. The encoder is frozen and only a linear classifier is trained. I-JEPA ViT-H/14 reaches 79.3 after 300 epochs, against 77.2 for MAE ViT-H/14 after 1,600; at 448-pixel resolution it reaches 81.1, level with iBOT ViT-L/16 (81.0), which does rely on augmentations. Right chart: compute. The paper says a ViT-H/14 trains in under 72 hours on 16 A100s (under 1,200 GPU-hours), over 2.5 times faster than a small ViT-S/16 trained with iBOT and over 10 times more efficient than a ViT-H/14 with MAE; those are stated as lower bounds, so the bars carry arrows. Predicting embeddings costs about 7% more per iteration than predicting pixels, but I-JEPA converges in roughly 5 times fewer iterations. Fine-tuned on full ImageNet it reaches 87.1 versus MAE's 87.8, so MAE still edges ahead when the whole network is fine-tuned.</a:t>
            </a:r>
            <a:endParaRPr/>
          </a:p>
        </p:txBody>
      </p:sp>
      <p:sp>
        <p:nvSpPr>
          <p:cNvPr id="125" name="Google Shape;125;h4dbd1a5733eb22cd_9_6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4dbd1a5733eb22cd_9_7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h4dbd1a5733eb22cd_9_7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The animation is a schematic, not data from the paper. I-JEPA's loss is the distance between predicted and target embeddings. If both encoders output the same vector for every image, every prediction matches its target and the loss is zero, so a falling loss on its own can't distinguish learning from collapse. The objective has no term against this (no contrastive loss, no variance penalty); the I-JEPA paper relies on an asymmetric design, an EMA target encoder with a stop-gradient plus a predictor, and says the EMA is essential without reporting runs that leave it out. Quotes: LeJEPA (Balestriero and LeCun, 2025): "Alas, JEPA's prediction task admits failure modes, such as representation collapse". It also describes its own loss as "the first practical loss for model selection without supervised probing". C-JEPA (NeurIPS 2024 spotlight) names as one of two limitations "the inefficacy of Exponential Moving Average (EMA) from I-JEPA in preventing entire collapse", and one of its reviewers (rating 7) wrote that "I-JEPA has room for improvement regarding the risk of model collapse." Fair to add: the runs reported in the I-JEPA paper train without collapsing; the point is that the protection comes from architecture choices, not from the objective.</a:t>
            </a:r>
            <a:endParaRPr/>
          </a:p>
        </p:txBody>
      </p:sp>
      <p:sp>
        <p:nvSpPr>
          <p:cNvPr id="141" name="Google Shape;141;h4dbd1a5733eb22cd_9_7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h4dbd1a5733eb22cd_9_9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h4dbd1a5733eb22cd_9_9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Data from I-JEPA's Tables 8, 9 and 10 (1% of ImageNet labels, linear probe, ViT-B/16, 300 epochs). The chosen settings score 54.2. Every other target size tried scores 19.2 to 42.4; a 40 to 100 percent context scores 31.2; one target block scores 9.0. Table 6 adds random-patch masking at 17.6, and Table 7 shows predicting pixels instead of embeddings drops 66.9 to 40.7. Other values are also set by hand: the EMA momentum schedule, predictor depth and width, a weight-decay ramp and a learning-rate warm-up. No error bars are reported. Quotes: an ICLR 2024 reviewer of V-JEPA (rating 6): "A key component that determines the success of VJPEA [sic] is multiblock design. I would have liked to have seen careful ablation of the design choices of this block including the scale factors and also aspect ratios used to design the mask". LeJEPA (2025): state-of-the-art recipes "rely on heuristics", including "teacher–student networks with carefully tuned EMA schedules", "and a delicate balance of hyperparameters. As a result, today's JEPA training is brittle." A TMLR reviewer of the revised V-JEPA: "relatively light on elaborating and expanding on hyperparameters". Fair to add: other methods tune settings too (MAE's mask ratio, DINO's augmentations), and I-JEPA uses the same masking settings unchanged from ViT-B up to ViT-G.</a:t>
            </a:r>
            <a:endParaRPr/>
          </a:p>
        </p:txBody>
      </p:sp>
      <p:sp>
        <p:nvSpPr>
          <p:cNvPr id="156" name="Google Shape;156;h4dbd1a5733eb22cd_9_9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h4dbd1a5733eb22cd_9_10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h4dbd1a5733eb22cd_9_10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Data from I-JEPA's Tables 1, 2, 3, 4 and 15, comparing I-JEPA with the best other method in each table. I-JEPA leads where the encoder stays frozen and only a linear layer is trained on ImageNet (+0.1 over iBOT, +1.6 over MSN with 1% of labels). It trails when the whole network is fine-tuned (87.1 vs MAE's 87.8), on transfer probes (CIFAR-100, Places205, and iNaturalist by 9.7 points behind iBOT) and on Clevr counting (MAE 90.5 vs 86.7), and ties MAE on depth. Quotes: the ICLR 2024 meta-review of V-JEPA (rejected; scores 3, 3, 5, 5, 6): "the evaluation is focused on linear probing, which despite being important, isn't always the way how these models are used and is usually inferior to fine-tuning." The same meta-review: "all reviewers find that the propose extension is a straightforward application of I-JEPA to video and lacks novelty." Reviewer HoWZ (rating 3): "It is well known since even the original MAE work that such models do not have the best performance when frozen, but even finetuning 1 or a small number of layers makes a large difference". I-JEPA's own CVPR 2023 reviews are not public; OpenReview lists only the paper record. The other side: a revised V-JEPA was accepted at TMLR in 2024 with all reviewers recommending acceptance. Training on ImageNet-22K narrows the iNaturalist gap (55.3 with ViT-G). C-JEPA and LeJEPA keep the JEPA idea and add a regulariser rather than abandon it, and I-JEPA's compute savings stand.</a:t>
            </a:r>
            <a:endParaRPr/>
          </a:p>
        </p:txBody>
      </p:sp>
      <p:sp>
        <p:nvSpPr>
          <p:cNvPr id="171" name="Google Shape;171;h4dbd1a5733eb22cd_9_10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h4dbd1a5733eb22cd_9_11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h4dbd1a5733eb22cd_9_11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All eight animations on one slide. Each plays once and stops on its final frame, which shows the finished diagram or chart. The full-size versions with explanations are on the slides before this one.</a:t>
            </a:r>
            <a:endParaRPr/>
          </a:p>
        </p:txBody>
      </p:sp>
      <p:sp>
        <p:nvSpPr>
          <p:cNvPr id="186" name="Google Shape;186;h4dbd1a5733eb22cd_9_11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4F1EA"/>
        </a:solidFill>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533400" y="636240"/>
            <a:ext cx="8077200" cy="314325"/>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B2333"/>
              </a:buClr>
              <a:buSzPts val="2300"/>
              <a:buFont typeface="Source Serif 4"/>
              <a:buNone/>
              <a:defRPr sz="2300">
                <a:solidFill>
                  <a:srgbClr val="1B2333"/>
                </a:solidFill>
                <a:latin typeface="Source Serif 4"/>
                <a:ea typeface="Source Serif 4"/>
                <a:cs typeface="Source Serif 4"/>
                <a:sym typeface="Source Serif 4"/>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5" name="Google Shape;55;p14"/>
          <p:cNvSpPr txBox="1"/>
          <p:nvPr>
            <p:ph idx="1" type="body"/>
          </p:nvPr>
        </p:nvSpPr>
        <p:spPr>
          <a:xfrm>
            <a:off x="533400" y="1179165"/>
            <a:ext cx="8001000" cy="3354735"/>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200"/>
              </a:spcBef>
              <a:spcAft>
                <a:spcPts val="0"/>
              </a:spcAft>
              <a:buClr>
                <a:srgbClr val="1B2333"/>
              </a:buClr>
              <a:buSzPts val="1200"/>
              <a:buNone/>
              <a:defRPr sz="1200">
                <a:solidFill>
                  <a:srgbClr val="1B2333"/>
                </a:solidFill>
                <a:latin typeface="Inter"/>
                <a:ea typeface="Inter"/>
                <a:cs typeface="Inter"/>
                <a:sym typeface="Inte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6"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533400" y="636240"/>
            <a:ext cx="8077200" cy="314325"/>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B2333"/>
              </a:buClr>
              <a:buSzPts val="2300"/>
              <a:buFont typeface="Source Serif 4"/>
              <a:buNone/>
              <a:defRPr b="0" i="0" sz="2300" u="none" cap="none" strike="noStrike">
                <a:solidFill>
                  <a:srgbClr val="1B2333"/>
                </a:solidFill>
                <a:latin typeface="Source Serif 4"/>
                <a:ea typeface="Source Serif 4"/>
                <a:cs typeface="Source Serif 4"/>
                <a:sym typeface="Source Serif 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533400" y="1179165"/>
            <a:ext cx="8001000" cy="3354735"/>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200"/>
              </a:spcBef>
              <a:spcAft>
                <a:spcPts val="0"/>
              </a:spcAft>
              <a:buClr>
                <a:srgbClr val="1B2333"/>
              </a:buClr>
              <a:buSzPts val="1200"/>
              <a:buFont typeface="Arial"/>
              <a:buNone/>
              <a:defRPr b="0" i="0" sz="1200" u="none" cap="none" strike="noStrike">
                <a:solidFill>
                  <a:srgbClr val="1B2333"/>
                </a:solidFill>
                <a:latin typeface="Inter"/>
                <a:ea typeface="Inter"/>
                <a:cs typeface="Inter"/>
                <a:sym typeface="Inter"/>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Inter"/>
                <a:ea typeface="Inter"/>
                <a:cs typeface="Inter"/>
                <a:sym typeface="Inter"/>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Inter"/>
                <a:ea typeface="Inter"/>
                <a:cs typeface="Inter"/>
                <a:sym typeface="Inter"/>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Inter"/>
                <a:ea typeface="Inter"/>
                <a:cs typeface="Inter"/>
                <a:sym typeface="Inter"/>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Inter"/>
                <a:ea typeface="Inter"/>
                <a:cs typeface="Inter"/>
                <a:sym typeface="Inter"/>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Inter"/>
                <a:ea typeface="Inter"/>
                <a:cs typeface="Inter"/>
                <a:sym typeface="Inter"/>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Inter"/>
                <a:ea typeface="Inter"/>
                <a:cs typeface="Inter"/>
                <a:sym typeface="Inter"/>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Inter"/>
                <a:ea typeface="Inter"/>
                <a:cs typeface="Inter"/>
                <a:sym typeface="Inter"/>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7.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5.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6.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4.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1.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0.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7.gif"/><Relationship Id="rId4" Type="http://schemas.openxmlformats.org/officeDocument/2006/relationships/image" Target="../media/image5.gif"/><Relationship Id="rId10" Type="http://schemas.openxmlformats.org/officeDocument/2006/relationships/image" Target="../media/image3.gif"/><Relationship Id="rId9" Type="http://schemas.openxmlformats.org/officeDocument/2006/relationships/image" Target="../media/image10.gif"/><Relationship Id="rId5" Type="http://schemas.openxmlformats.org/officeDocument/2006/relationships/image" Target="../media/image16.gif"/><Relationship Id="rId6" Type="http://schemas.openxmlformats.org/officeDocument/2006/relationships/image" Target="../media/image2.gif"/><Relationship Id="rId7" Type="http://schemas.openxmlformats.org/officeDocument/2006/relationships/image" Target="../media/image14.gif"/><Relationship Id="rId8" Type="http://schemas.openxmlformats.org/officeDocument/2006/relationships/image" Target="../media/image11.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61" name="Shape 61"/>
        <p:cNvGrpSpPr/>
        <p:nvPr/>
      </p:nvGrpSpPr>
      <p:grpSpPr>
        <a:xfrm>
          <a:off x="0" y="0"/>
          <a:ext cx="0" cy="0"/>
          <a:chOff x="0" y="0"/>
          <a:chExt cx="0" cy="0"/>
        </a:xfrm>
      </p:grpSpPr>
      <p:sp>
        <p:nvSpPr>
          <p:cNvPr id="62" name="Google Shape;62;p16"/>
          <p:cNvSpPr/>
          <p:nvPr/>
        </p:nvSpPr>
        <p:spPr>
          <a:xfrm>
            <a:off x="533400" y="419100"/>
            <a:ext cx="8319516"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45BF"/>
              </a:buClr>
              <a:buSzPts val="900"/>
              <a:buFont typeface="Inter"/>
              <a:buNone/>
            </a:pPr>
            <a:r>
              <a:rPr b="1" i="0" lang="en-GB" spc="100" sz="900" u="none" cap="none" strike="noStrike">
                <a:solidFill>
                  <a:srgbClr val="6A45BF"/>
                </a:solidFill>
                <a:latin typeface="Inter"/>
                <a:ea typeface="Inter"/>
                <a:cs typeface="Inter"/>
                <a:sym typeface="Inter"/>
              </a:rPr>
              <a:t>I-JEPA, ANIMATED · FIGURE 2</a:t>
            </a:r>
            <a:endParaRPr b="0" i="0" sz="900" u="none" cap="none" strike="noStrike">
              <a:solidFill>
                <a:schemeClr val="dk1"/>
              </a:solidFill>
              <a:latin typeface="Inter"/>
              <a:ea typeface="Inter"/>
              <a:cs typeface="Inter"/>
              <a:sym typeface="Inter"/>
            </a:endParaRPr>
          </a:p>
        </p:txBody>
      </p:sp>
      <p:sp>
        <p:nvSpPr>
          <p:cNvPr id="63" name="Google Shape;63;p16"/>
          <p:cNvSpPr txBox="1"/>
          <p:nvPr>
            <p:ph type="title"/>
          </p:nvPr>
        </p:nvSpPr>
        <p:spPr>
          <a:xfrm>
            <a:off x="533400" y="636240"/>
            <a:ext cx="8319516" cy="333375"/>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333"/>
              </a:buClr>
              <a:buSzPts val="2300"/>
              <a:buFont typeface="Source Serif 4"/>
              <a:buNone/>
            </a:pPr>
            <a:r>
              <a:rPr b="1" i="0" lang="en-GB" sz="2300">
                <a:solidFill>
                  <a:srgbClr val="1B2333"/>
                </a:solidFill>
                <a:latin typeface="Source Serif 4"/>
                <a:ea typeface="Source Serif 4"/>
                <a:cs typeface="Source Serif 4"/>
                <a:sym typeface="Source Serif 4"/>
              </a:rPr>
              <a:t>Three ways to learn from unlabeled images</a:t>
            </a:r>
            <a:endParaRPr sz="2300"/>
          </a:p>
        </p:txBody>
      </p:sp>
      <p:sp>
        <p:nvSpPr>
          <p:cNvPr id="64" name="Google Shape;64;p16"/>
          <p:cNvSpPr/>
          <p:nvPr/>
        </p:nvSpPr>
        <p:spPr>
          <a:xfrm>
            <a:off x="533400" y="1141065"/>
            <a:ext cx="5486400" cy="3086100"/>
          </a:xfrm>
          <a:prstGeom prst="roundRect">
            <a:avLst>
              <a:gd fmla="val 2469"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Animated diagram of Figure 2: joint-embedding, generative and joint-embedding predictive architectures, each comparing two inputs x and y with a loss D" id="65" name="Google Shape;65;p16"/>
          <p:cNvPicPr preferRelativeResize="0"/>
          <p:nvPr/>
        </p:nvPicPr>
        <p:blipFill rotWithShape="1">
          <a:blip r:embed="rId3">
            <a:alphaModFix/>
          </a:blip>
          <a:srcRect b="0" l="-136" r="-136" t="0"/>
          <a:stretch/>
        </p:blipFill>
        <p:spPr>
          <a:xfrm>
            <a:off x="542925" y="1150590"/>
            <a:ext cx="5467350" cy="3067050"/>
          </a:xfrm>
          <a:prstGeom prst="roundRect">
            <a:avLst>
              <a:gd fmla="val 2174" name="adj"/>
            </a:avLst>
          </a:prstGeom>
          <a:noFill/>
          <a:ln>
            <a:noFill/>
          </a:ln>
        </p:spPr>
      </p:pic>
      <p:sp>
        <p:nvSpPr>
          <p:cNvPr id="66" name="Google Shape;66;p16"/>
          <p:cNvSpPr/>
          <p:nvPr/>
        </p:nvSpPr>
        <p:spPr>
          <a:xfrm>
            <a:off x="538163" y="1145828"/>
            <a:ext cx="5476875" cy="3076575"/>
          </a:xfrm>
          <a:prstGeom prst="roundRect">
            <a:avLst>
              <a:gd fmla="val 232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 name="Google Shape;67;p16"/>
          <p:cNvSpPr/>
          <p:nvPr/>
        </p:nvSpPr>
        <p:spPr>
          <a:xfrm>
            <a:off x="6286500" y="1179165"/>
            <a:ext cx="2393823" cy="179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333"/>
              </a:buClr>
              <a:buSzPts val="1100"/>
              <a:buFont typeface="Inter"/>
              <a:buNone/>
            </a:pPr>
            <a:r>
              <a:rPr b="1" i="0" lang="en-GB" sz="1100" u="none" cap="none" strike="noStrike">
                <a:solidFill>
                  <a:srgbClr val="1B2333"/>
                </a:solidFill>
                <a:latin typeface="Inter"/>
                <a:ea typeface="Inter"/>
                <a:cs typeface="Inter"/>
                <a:sym typeface="Inter"/>
              </a:rPr>
              <a:t>Joint-embedding</a:t>
            </a:r>
            <a:endParaRPr b="0" i="0" sz="1100" u="none" cap="none" strike="noStrike">
              <a:solidFill>
                <a:schemeClr val="dk1"/>
              </a:solidFill>
              <a:latin typeface="Inter"/>
              <a:ea typeface="Inter"/>
              <a:cs typeface="Inter"/>
              <a:sym typeface="Inter"/>
            </a:endParaRPr>
          </a:p>
        </p:txBody>
      </p:sp>
      <p:sp>
        <p:nvSpPr>
          <p:cNvPr id="68" name="Google Shape;68;p16"/>
          <p:cNvSpPr/>
          <p:nvPr/>
        </p:nvSpPr>
        <p:spPr>
          <a:xfrm>
            <a:off x="6286500" y="1377256"/>
            <a:ext cx="2393823" cy="49902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900"/>
              <a:buFont typeface="Inter"/>
              <a:buNone/>
            </a:pPr>
            <a:r>
              <a:rPr b="0" i="0" lang="en-GB" sz="900" u="none" cap="none" strike="noStrike">
                <a:solidFill>
                  <a:srgbClr val="4A5263"/>
                </a:solidFill>
                <a:latin typeface="Inter"/>
                <a:ea typeface="Inter"/>
                <a:cs typeface="Inter"/>
                <a:sym typeface="Inter"/>
              </a:rPr>
              <a:t>Two edited copies of a photo must get matching embeddings. People have to choose the edits.</a:t>
            </a:r>
            <a:endParaRPr b="0" i="0" sz="900" u="none" cap="none" strike="noStrike">
              <a:solidFill>
                <a:schemeClr val="dk1"/>
              </a:solidFill>
              <a:latin typeface="Inter"/>
              <a:ea typeface="Inter"/>
              <a:cs typeface="Inter"/>
              <a:sym typeface="Inter"/>
            </a:endParaRPr>
          </a:p>
        </p:txBody>
      </p:sp>
      <p:sp>
        <p:nvSpPr>
          <p:cNvPr id="69" name="Google Shape;69;p16"/>
          <p:cNvSpPr/>
          <p:nvPr/>
        </p:nvSpPr>
        <p:spPr>
          <a:xfrm>
            <a:off x="6286500" y="2009627"/>
            <a:ext cx="2393823" cy="179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333"/>
              </a:buClr>
              <a:buSzPts val="1100"/>
              <a:buFont typeface="Inter"/>
              <a:buNone/>
            </a:pPr>
            <a:r>
              <a:rPr b="1" i="0" lang="en-GB" sz="1100" u="none" cap="none" strike="noStrike">
                <a:solidFill>
                  <a:srgbClr val="1B2333"/>
                </a:solidFill>
                <a:latin typeface="Inter"/>
                <a:ea typeface="Inter"/>
                <a:cs typeface="Inter"/>
                <a:sym typeface="Inter"/>
              </a:rPr>
              <a:t>Generative</a:t>
            </a:r>
            <a:endParaRPr b="0" i="0" sz="1100" u="none" cap="none" strike="noStrike">
              <a:solidFill>
                <a:schemeClr val="dk1"/>
              </a:solidFill>
              <a:latin typeface="Inter"/>
              <a:ea typeface="Inter"/>
              <a:cs typeface="Inter"/>
              <a:sym typeface="Inter"/>
            </a:endParaRPr>
          </a:p>
        </p:txBody>
      </p:sp>
      <p:sp>
        <p:nvSpPr>
          <p:cNvPr id="70" name="Google Shape;70;p16"/>
          <p:cNvSpPr/>
          <p:nvPr/>
        </p:nvSpPr>
        <p:spPr>
          <a:xfrm>
            <a:off x="6286500" y="2207717"/>
            <a:ext cx="2393823" cy="49902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900"/>
              <a:buFont typeface="Inter"/>
              <a:buNone/>
            </a:pPr>
            <a:r>
              <a:rPr b="0" i="0" lang="en-GB" sz="900" u="none" cap="none" strike="noStrike">
                <a:solidFill>
                  <a:srgbClr val="4A5263"/>
                </a:solidFill>
                <a:latin typeface="Inter"/>
                <a:ea typeface="Inter"/>
                <a:cs typeface="Inter"/>
                <a:sym typeface="Inter"/>
              </a:rPr>
              <a:t>Hide patches and repaint every pixel. No edits needed, but effort goes into tiny details.</a:t>
            </a:r>
            <a:endParaRPr b="0" i="0" sz="900" u="none" cap="none" strike="noStrike">
              <a:solidFill>
                <a:schemeClr val="dk1"/>
              </a:solidFill>
              <a:latin typeface="Inter"/>
              <a:ea typeface="Inter"/>
              <a:cs typeface="Inter"/>
              <a:sym typeface="Inter"/>
            </a:endParaRPr>
          </a:p>
        </p:txBody>
      </p:sp>
      <p:sp>
        <p:nvSpPr>
          <p:cNvPr id="71" name="Google Shape;71;p16"/>
          <p:cNvSpPr/>
          <p:nvPr/>
        </p:nvSpPr>
        <p:spPr>
          <a:xfrm>
            <a:off x="6286500" y="2840087"/>
            <a:ext cx="2393823" cy="179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A45BF"/>
              </a:buClr>
              <a:buSzPts val="1100"/>
              <a:buFont typeface="Inter"/>
              <a:buNone/>
            </a:pPr>
            <a:r>
              <a:rPr b="1" i="0" lang="en-GB" sz="1100" u="none" cap="none" strike="noStrike">
                <a:solidFill>
                  <a:srgbClr val="6A45BF"/>
                </a:solidFill>
                <a:latin typeface="Inter"/>
                <a:ea typeface="Inter"/>
                <a:cs typeface="Inter"/>
                <a:sym typeface="Inter"/>
              </a:rPr>
              <a:t>JEPA</a:t>
            </a:r>
            <a:endParaRPr b="0" i="0" sz="1100" u="none" cap="none" strike="noStrike">
              <a:solidFill>
                <a:schemeClr val="dk1"/>
              </a:solidFill>
              <a:latin typeface="Inter"/>
              <a:ea typeface="Inter"/>
              <a:cs typeface="Inter"/>
              <a:sym typeface="Inter"/>
            </a:endParaRPr>
          </a:p>
        </p:txBody>
      </p:sp>
      <p:sp>
        <p:nvSpPr>
          <p:cNvPr id="72" name="Google Shape;72;p16"/>
          <p:cNvSpPr/>
          <p:nvPr/>
        </p:nvSpPr>
        <p:spPr>
          <a:xfrm>
            <a:off x="6286500" y="3038177"/>
            <a:ext cx="2393823" cy="49902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900"/>
              <a:buFont typeface="Inter"/>
              <a:buNone/>
            </a:pPr>
            <a:r>
              <a:rPr b="0" i="0" lang="en-GB" sz="900" u="none" cap="none" strike="noStrike">
                <a:solidFill>
                  <a:srgbClr val="4A5263"/>
                </a:solidFill>
                <a:latin typeface="Inter"/>
                <a:ea typeface="Inter"/>
                <a:cs typeface="Inter"/>
                <a:sym typeface="Inter"/>
              </a:rPr>
              <a:t>Hide patches and predict their </a:t>
            </a:r>
            <a:r>
              <a:rPr b="1" i="0" lang="en-GB" sz="900" u="none" cap="none" strike="noStrike">
                <a:solidFill>
                  <a:srgbClr val="4A5263"/>
                </a:solidFill>
                <a:latin typeface="Inter"/>
                <a:ea typeface="Inter"/>
                <a:cs typeface="Inter"/>
                <a:sym typeface="Inter"/>
              </a:rPr>
              <a:t>embedding</a:t>
            </a:r>
            <a:r>
              <a:rPr b="0" i="0" lang="en-GB" sz="900" u="none" cap="none" strike="noStrike">
                <a:solidFill>
                  <a:srgbClr val="4A5263"/>
                </a:solidFill>
                <a:latin typeface="Inter"/>
                <a:ea typeface="Inter"/>
                <a:cs typeface="Inter"/>
                <a:sym typeface="Inter"/>
              </a:rPr>
              <a:t>. No edits and no pixels, just the meaning.</a:t>
            </a:r>
            <a:endParaRPr b="0" i="0" sz="900" u="none" cap="none" strike="noStrike">
              <a:solidFill>
                <a:schemeClr val="dk1"/>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77" name="Shape 77"/>
        <p:cNvGrpSpPr/>
        <p:nvPr/>
      </p:nvGrpSpPr>
      <p:grpSpPr>
        <a:xfrm>
          <a:off x="0" y="0"/>
          <a:ext cx="0" cy="0"/>
          <a:chOff x="0" y="0"/>
          <a:chExt cx="0" cy="0"/>
        </a:xfrm>
      </p:grpSpPr>
      <p:sp>
        <p:nvSpPr>
          <p:cNvPr id="78" name="Google Shape;78;p17"/>
          <p:cNvSpPr/>
          <p:nvPr/>
        </p:nvSpPr>
        <p:spPr>
          <a:xfrm>
            <a:off x="533400" y="419100"/>
            <a:ext cx="8319516"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45BF"/>
              </a:buClr>
              <a:buSzPts val="900"/>
              <a:buFont typeface="Inter"/>
              <a:buNone/>
            </a:pPr>
            <a:r>
              <a:rPr b="1" i="0" lang="en-GB" spc="100" sz="900" u="none" cap="none" strike="noStrike">
                <a:solidFill>
                  <a:srgbClr val="6A45BF"/>
                </a:solidFill>
                <a:latin typeface="Inter"/>
                <a:ea typeface="Inter"/>
                <a:cs typeface="Inter"/>
                <a:sym typeface="Inter"/>
              </a:rPr>
              <a:t>FIGURE 4 · MULTI-BLOCK MASKING</a:t>
            </a:r>
            <a:endParaRPr b="0" i="0" sz="900" u="none" cap="none" strike="noStrike">
              <a:solidFill>
                <a:schemeClr val="dk1"/>
              </a:solidFill>
              <a:latin typeface="Inter"/>
              <a:ea typeface="Inter"/>
              <a:cs typeface="Inter"/>
              <a:sym typeface="Inter"/>
            </a:endParaRPr>
          </a:p>
        </p:txBody>
      </p:sp>
      <p:sp>
        <p:nvSpPr>
          <p:cNvPr id="79" name="Google Shape;79;p17"/>
          <p:cNvSpPr txBox="1"/>
          <p:nvPr>
            <p:ph type="title"/>
          </p:nvPr>
        </p:nvSpPr>
        <p:spPr>
          <a:xfrm>
            <a:off x="533400" y="636240"/>
            <a:ext cx="8319516" cy="333375"/>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333"/>
              </a:buClr>
              <a:buSzPts val="2300"/>
              <a:buFont typeface="Source Serif 4"/>
              <a:buNone/>
            </a:pPr>
            <a:r>
              <a:rPr b="1" i="0" lang="en-GB" sz="2300">
                <a:solidFill>
                  <a:srgbClr val="1B2333"/>
                </a:solidFill>
                <a:latin typeface="Source Serif 4"/>
                <a:ea typeface="Source Serif 4"/>
                <a:cs typeface="Source Serif 4"/>
                <a:sym typeface="Source Serif 4"/>
              </a:rPr>
              <a:t>What gets hidden, and why it matters</a:t>
            </a:r>
            <a:endParaRPr sz="2300"/>
          </a:p>
        </p:txBody>
      </p:sp>
      <p:sp>
        <p:nvSpPr>
          <p:cNvPr id="80" name="Google Shape;80;p17"/>
          <p:cNvSpPr/>
          <p:nvPr/>
        </p:nvSpPr>
        <p:spPr>
          <a:xfrm>
            <a:off x="533400" y="1141065"/>
            <a:ext cx="5486400" cy="3086100"/>
          </a:xfrm>
          <a:prstGeom prst="roundRect">
            <a:avLst>
              <a:gd fmla="val 2469"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Animation of the masking strategy on a 14 by 14 patch grid: four orange target blocks are sampled, then a large blue context block, the targets are cut out of the context, and the predictor fills each hole" id="81" name="Google Shape;81;p17"/>
          <p:cNvPicPr preferRelativeResize="0"/>
          <p:nvPr/>
        </p:nvPicPr>
        <p:blipFill rotWithShape="1">
          <a:blip r:embed="rId3">
            <a:alphaModFix/>
          </a:blip>
          <a:srcRect b="0" l="-136" r="-136" t="0"/>
          <a:stretch/>
        </p:blipFill>
        <p:spPr>
          <a:xfrm>
            <a:off x="542925" y="1150590"/>
            <a:ext cx="5467350" cy="3067050"/>
          </a:xfrm>
          <a:prstGeom prst="roundRect">
            <a:avLst>
              <a:gd fmla="val 2174" name="adj"/>
            </a:avLst>
          </a:prstGeom>
          <a:noFill/>
          <a:ln>
            <a:noFill/>
          </a:ln>
        </p:spPr>
      </p:pic>
      <p:sp>
        <p:nvSpPr>
          <p:cNvPr id="82" name="Google Shape;82;p17"/>
          <p:cNvSpPr/>
          <p:nvPr/>
        </p:nvSpPr>
        <p:spPr>
          <a:xfrm>
            <a:off x="538163" y="1145828"/>
            <a:ext cx="5476875" cy="3076575"/>
          </a:xfrm>
          <a:prstGeom prst="roundRect">
            <a:avLst>
              <a:gd fmla="val 232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3" name="Google Shape;83;p17"/>
          <p:cNvSpPr/>
          <p:nvPr/>
        </p:nvSpPr>
        <p:spPr>
          <a:xfrm>
            <a:off x="6286500" y="1179165"/>
            <a:ext cx="2393823" cy="179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8540F"/>
              </a:buClr>
              <a:buSzPts val="1100"/>
              <a:buFont typeface="Inter"/>
              <a:buNone/>
            </a:pPr>
            <a:r>
              <a:rPr b="1" i="0" lang="en-GB" sz="1100" u="none" cap="none" strike="noStrike">
                <a:solidFill>
                  <a:srgbClr val="A8540F"/>
                </a:solidFill>
                <a:latin typeface="Inter"/>
                <a:ea typeface="Inter"/>
                <a:cs typeface="Inter"/>
                <a:sym typeface="Inter"/>
              </a:rPr>
              <a:t>Hide big chunks</a:t>
            </a:r>
            <a:endParaRPr b="0" i="0" sz="1100" u="none" cap="none" strike="noStrike">
              <a:solidFill>
                <a:schemeClr val="dk1"/>
              </a:solidFill>
              <a:latin typeface="Inter"/>
              <a:ea typeface="Inter"/>
              <a:cs typeface="Inter"/>
              <a:sym typeface="Inter"/>
            </a:endParaRPr>
          </a:p>
        </p:txBody>
      </p:sp>
      <p:sp>
        <p:nvSpPr>
          <p:cNvPr id="84" name="Google Shape;84;p17"/>
          <p:cNvSpPr/>
          <p:nvPr/>
        </p:nvSpPr>
        <p:spPr>
          <a:xfrm>
            <a:off x="6286500" y="1377256"/>
            <a:ext cx="2393823" cy="49902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900"/>
              <a:buFont typeface="Inter"/>
              <a:buNone/>
            </a:pPr>
            <a:r>
              <a:rPr b="0" i="0" lang="en-GB" sz="900" u="none" cap="none" strike="noStrike">
                <a:solidFill>
                  <a:srgbClr val="4A5263"/>
                </a:solidFill>
                <a:latin typeface="Inter"/>
                <a:ea typeface="Inter"/>
                <a:cs typeface="Inter"/>
                <a:sym typeface="Inter"/>
              </a:rPr>
              <a:t>Targets of 15–20% cover whole object parts. Let them shrink to 7.5% and accuracy falls from </a:t>
            </a:r>
            <a:r>
              <a:rPr b="1" i="0" lang="en-GB" sz="900" u="none" cap="none" strike="noStrike">
                <a:solidFill>
                  <a:srgbClr val="4A5263"/>
                </a:solidFill>
                <a:latin typeface="Inter"/>
                <a:ea typeface="Inter"/>
                <a:cs typeface="Inter"/>
                <a:sym typeface="Inter"/>
              </a:rPr>
              <a:t>54.2%</a:t>
            </a:r>
            <a:r>
              <a:rPr b="0" i="0" lang="en-GB" sz="900" u="none" cap="none" strike="noStrike">
                <a:solidFill>
                  <a:srgbClr val="4A5263"/>
                </a:solidFill>
                <a:latin typeface="Inter"/>
                <a:ea typeface="Inter"/>
                <a:cs typeface="Inter"/>
                <a:sym typeface="Inter"/>
              </a:rPr>
              <a:t> to </a:t>
            </a:r>
            <a:r>
              <a:rPr b="1" i="0" lang="en-GB" sz="900" u="none" cap="none" strike="noStrike">
                <a:solidFill>
                  <a:srgbClr val="4A5263"/>
                </a:solidFill>
                <a:latin typeface="Inter"/>
                <a:ea typeface="Inter"/>
                <a:cs typeface="Inter"/>
                <a:sym typeface="Inter"/>
              </a:rPr>
              <a:t>19.2%</a:t>
            </a:r>
            <a:r>
              <a:rPr b="0" i="0" lang="en-GB" sz="900" u="none" cap="none" strike="noStrike">
                <a:solidFill>
                  <a:srgbClr val="4A5263"/>
                </a:solidFill>
                <a:latin typeface="Inter"/>
                <a:ea typeface="Inter"/>
                <a:cs typeface="Inter"/>
                <a:sym typeface="Inter"/>
              </a:rPr>
              <a:t>.</a:t>
            </a:r>
            <a:endParaRPr b="0" i="0" sz="900" u="none" cap="none" strike="noStrike">
              <a:solidFill>
                <a:schemeClr val="dk1"/>
              </a:solidFill>
              <a:latin typeface="Inter"/>
              <a:ea typeface="Inter"/>
              <a:cs typeface="Inter"/>
              <a:sym typeface="Inter"/>
            </a:endParaRPr>
          </a:p>
        </p:txBody>
      </p:sp>
      <p:sp>
        <p:nvSpPr>
          <p:cNvPr id="85" name="Google Shape;85;p17"/>
          <p:cNvSpPr/>
          <p:nvPr/>
        </p:nvSpPr>
        <p:spPr>
          <a:xfrm>
            <a:off x="6286500" y="2009627"/>
            <a:ext cx="2393823" cy="179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558B8"/>
              </a:buClr>
              <a:buSzPts val="1100"/>
              <a:buFont typeface="Inter"/>
              <a:buNone/>
            </a:pPr>
            <a:r>
              <a:rPr b="1" i="0" lang="en-GB" sz="1100" u="none" cap="none" strike="noStrike">
                <a:solidFill>
                  <a:srgbClr val="2558B8"/>
                </a:solidFill>
                <a:latin typeface="Inter"/>
                <a:ea typeface="Inter"/>
                <a:cs typeface="Inter"/>
                <a:sym typeface="Inter"/>
              </a:rPr>
              <a:t>Keep a wide context</a:t>
            </a:r>
            <a:endParaRPr b="0" i="0" sz="1100" u="none" cap="none" strike="noStrike">
              <a:solidFill>
                <a:schemeClr val="dk1"/>
              </a:solidFill>
              <a:latin typeface="Inter"/>
              <a:ea typeface="Inter"/>
              <a:cs typeface="Inter"/>
              <a:sym typeface="Inter"/>
            </a:endParaRPr>
          </a:p>
        </p:txBody>
      </p:sp>
      <p:sp>
        <p:nvSpPr>
          <p:cNvPr id="86" name="Google Shape;86;p17"/>
          <p:cNvSpPr/>
          <p:nvPr/>
        </p:nvSpPr>
        <p:spPr>
          <a:xfrm>
            <a:off x="6286500" y="2207717"/>
            <a:ext cx="2393823" cy="33903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900"/>
              <a:buFont typeface="Inter"/>
              <a:buNone/>
            </a:pPr>
            <a:r>
              <a:rPr b="0" i="0" lang="en-GB" sz="900" u="none" cap="none" strike="noStrike">
                <a:solidFill>
                  <a:srgbClr val="4A5263"/>
                </a:solidFill>
                <a:latin typeface="Inter"/>
                <a:ea typeface="Inter"/>
                <a:cs typeface="Inter"/>
                <a:sym typeface="Inter"/>
              </a:rPr>
              <a:t>A context of 85–100% scores </a:t>
            </a:r>
            <a:r>
              <a:rPr b="1" i="0" lang="en-GB" sz="900" u="none" cap="none" strike="noStrike">
                <a:solidFill>
                  <a:srgbClr val="4A5263"/>
                </a:solidFill>
                <a:latin typeface="Inter"/>
                <a:ea typeface="Inter"/>
                <a:cs typeface="Inter"/>
                <a:sym typeface="Inter"/>
              </a:rPr>
              <a:t>54.2%</a:t>
            </a:r>
            <a:r>
              <a:rPr b="0" i="0" lang="en-GB" sz="900" u="none" cap="none" strike="noStrike">
                <a:solidFill>
                  <a:srgbClr val="4A5263"/>
                </a:solidFill>
                <a:latin typeface="Inter"/>
                <a:ea typeface="Inter"/>
                <a:cs typeface="Inter"/>
                <a:sym typeface="Inter"/>
              </a:rPr>
              <a:t>; 40–100% scores </a:t>
            </a:r>
            <a:r>
              <a:rPr b="1" i="0" lang="en-GB" sz="900" u="none" cap="none" strike="noStrike">
                <a:solidFill>
                  <a:srgbClr val="4A5263"/>
                </a:solidFill>
                <a:latin typeface="Inter"/>
                <a:ea typeface="Inter"/>
                <a:cs typeface="Inter"/>
                <a:sym typeface="Inter"/>
              </a:rPr>
              <a:t>31.2%</a:t>
            </a:r>
            <a:r>
              <a:rPr b="0" i="0" lang="en-GB" sz="900" u="none" cap="none" strike="noStrike">
                <a:solidFill>
                  <a:srgbClr val="4A5263"/>
                </a:solidFill>
                <a:latin typeface="Inter"/>
                <a:ea typeface="Inter"/>
                <a:cs typeface="Inter"/>
                <a:sym typeface="Inter"/>
              </a:rPr>
              <a:t>.</a:t>
            </a:r>
            <a:endParaRPr b="0" i="0" sz="900" u="none" cap="none" strike="noStrike">
              <a:solidFill>
                <a:schemeClr val="dk1"/>
              </a:solidFill>
              <a:latin typeface="Inter"/>
              <a:ea typeface="Inter"/>
              <a:cs typeface="Inter"/>
              <a:sym typeface="Inter"/>
            </a:endParaRPr>
          </a:p>
        </p:txBody>
      </p:sp>
      <p:sp>
        <p:nvSpPr>
          <p:cNvPr id="87" name="Google Shape;87;p17"/>
          <p:cNvSpPr/>
          <p:nvPr/>
        </p:nvSpPr>
        <p:spPr>
          <a:xfrm>
            <a:off x="6286500" y="2680097"/>
            <a:ext cx="2393823" cy="179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333"/>
              </a:buClr>
              <a:buSzPts val="1100"/>
              <a:buFont typeface="Inter"/>
              <a:buNone/>
            </a:pPr>
            <a:r>
              <a:rPr b="1" i="0" lang="en-GB" sz="1100" u="none" cap="none" strike="noStrike">
                <a:solidFill>
                  <a:srgbClr val="1B2333"/>
                </a:solidFill>
                <a:latin typeface="Inter"/>
                <a:ea typeface="Inter"/>
                <a:cs typeface="Inter"/>
                <a:sym typeface="Inter"/>
              </a:rPr>
              <a:t>Blocks beat random patches</a:t>
            </a:r>
            <a:endParaRPr b="0" i="0" sz="1100" u="none" cap="none" strike="noStrike">
              <a:solidFill>
                <a:schemeClr val="dk1"/>
              </a:solidFill>
              <a:latin typeface="Inter"/>
              <a:ea typeface="Inter"/>
              <a:cs typeface="Inter"/>
              <a:sym typeface="Inter"/>
            </a:endParaRPr>
          </a:p>
        </p:txBody>
      </p:sp>
      <p:sp>
        <p:nvSpPr>
          <p:cNvPr id="88" name="Google Shape;88;p17"/>
          <p:cNvSpPr/>
          <p:nvPr/>
        </p:nvSpPr>
        <p:spPr>
          <a:xfrm>
            <a:off x="6286500" y="2878187"/>
            <a:ext cx="2393823" cy="33903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900"/>
              <a:buFont typeface="Inter"/>
              <a:buNone/>
            </a:pPr>
            <a:r>
              <a:rPr b="0" i="0" lang="en-GB" sz="900" u="none" cap="none" strike="noStrike">
                <a:solidFill>
                  <a:srgbClr val="4A5263"/>
                </a:solidFill>
                <a:latin typeface="Inter"/>
                <a:ea typeface="Inter"/>
                <a:cs typeface="Inter"/>
                <a:sym typeface="Inter"/>
              </a:rPr>
              <a:t>Multi-block </a:t>
            </a:r>
            <a:r>
              <a:rPr b="1" i="0" lang="en-GB" sz="900" u="none" cap="none" strike="noStrike">
                <a:solidFill>
                  <a:srgbClr val="4A5263"/>
                </a:solidFill>
                <a:latin typeface="Inter"/>
                <a:ea typeface="Inter"/>
                <a:cs typeface="Inter"/>
                <a:sym typeface="Inter"/>
              </a:rPr>
              <a:t>54.2%</a:t>
            </a:r>
            <a:r>
              <a:rPr b="0" i="0" lang="en-GB" sz="900" u="none" cap="none" strike="noStrike">
                <a:solidFill>
                  <a:srgbClr val="4A5263"/>
                </a:solidFill>
                <a:latin typeface="Inter"/>
                <a:ea typeface="Inter"/>
                <a:cs typeface="Inter"/>
                <a:sym typeface="Inter"/>
              </a:rPr>
              <a:t> vs. random patches </a:t>
            </a:r>
            <a:r>
              <a:rPr b="1" i="0" lang="en-GB" sz="900" u="none" cap="none" strike="noStrike">
                <a:solidFill>
                  <a:srgbClr val="4A5263"/>
                </a:solidFill>
                <a:latin typeface="Inter"/>
                <a:ea typeface="Inter"/>
                <a:cs typeface="Inter"/>
                <a:sym typeface="Inter"/>
              </a:rPr>
              <a:t>17.6%</a:t>
            </a:r>
            <a:r>
              <a:rPr b="0" i="0" lang="en-GB" sz="900" u="none" cap="none" strike="noStrike">
                <a:solidFill>
                  <a:srgbClr val="4A5263"/>
                </a:solidFill>
                <a:latin typeface="Inter"/>
                <a:ea typeface="Inter"/>
                <a:cs typeface="Inter"/>
                <a:sym typeface="Inter"/>
              </a:rPr>
              <a:t>.</a:t>
            </a:r>
            <a:endParaRPr b="0" i="0" sz="900" u="none" cap="none" strike="noStrike">
              <a:solidFill>
                <a:schemeClr val="dk1"/>
              </a:solidFill>
              <a:latin typeface="Inter"/>
              <a:ea typeface="Inter"/>
              <a:cs typeface="Inter"/>
              <a:sym typeface="Inter"/>
            </a:endParaRPr>
          </a:p>
        </p:txBody>
      </p:sp>
      <p:sp>
        <p:nvSpPr>
          <p:cNvPr id="89" name="Google Shape;89;p17"/>
          <p:cNvSpPr/>
          <p:nvPr/>
        </p:nvSpPr>
        <p:spPr>
          <a:xfrm>
            <a:off x="6286500" y="3350567"/>
            <a:ext cx="2393823" cy="33903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280"/>
              </a:buClr>
              <a:buSzPts val="900"/>
              <a:buFont typeface="Inter"/>
              <a:buNone/>
            </a:pPr>
            <a:r>
              <a:rPr b="0" i="0" lang="en-GB" sz="900" u="none" cap="none" strike="noStrike">
                <a:solidFill>
                  <a:srgbClr val="6B7280"/>
                </a:solidFill>
                <a:latin typeface="Inter"/>
                <a:ea typeface="Inter"/>
                <a:cs typeface="Inter"/>
                <a:sym typeface="Inter"/>
              </a:rPr>
              <a:t>1% of ImageNet labels, linear probe, ViT-B/16, 300 epochs (Tables 6, 8, 9).</a:t>
            </a:r>
            <a:endParaRPr b="0" i="0" sz="900" u="none" cap="none" strike="noStrike">
              <a:solidFill>
                <a:schemeClr val="dk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94" name="Shape 94"/>
        <p:cNvGrpSpPr/>
        <p:nvPr/>
      </p:nvGrpSpPr>
      <p:grpSpPr>
        <a:xfrm>
          <a:off x="0" y="0"/>
          <a:ext cx="0" cy="0"/>
          <a:chOff x="0" y="0"/>
          <a:chExt cx="0" cy="0"/>
        </a:xfrm>
      </p:grpSpPr>
      <p:sp>
        <p:nvSpPr>
          <p:cNvPr id="95" name="Google Shape;95;p18"/>
          <p:cNvSpPr/>
          <p:nvPr/>
        </p:nvSpPr>
        <p:spPr>
          <a:xfrm>
            <a:off x="533400" y="419100"/>
            <a:ext cx="8319516"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45BF"/>
              </a:buClr>
              <a:buSzPts val="900"/>
              <a:buFont typeface="Inter"/>
              <a:buNone/>
            </a:pPr>
            <a:r>
              <a:rPr b="1" i="0" lang="en-GB" spc="100" sz="900" u="none" cap="none" strike="noStrike">
                <a:solidFill>
                  <a:srgbClr val="6A45BF"/>
                </a:solidFill>
                <a:latin typeface="Inter"/>
                <a:ea typeface="Inter"/>
                <a:cs typeface="Inter"/>
                <a:sym typeface="Inter"/>
              </a:rPr>
              <a:t>FIGURE 3 · THE TRAINING LOOP</a:t>
            </a:r>
            <a:endParaRPr b="0" i="0" sz="900" u="none" cap="none" strike="noStrike">
              <a:solidFill>
                <a:schemeClr val="dk1"/>
              </a:solidFill>
              <a:latin typeface="Inter"/>
              <a:ea typeface="Inter"/>
              <a:cs typeface="Inter"/>
              <a:sym typeface="Inter"/>
            </a:endParaRPr>
          </a:p>
        </p:txBody>
      </p:sp>
      <p:sp>
        <p:nvSpPr>
          <p:cNvPr id="96" name="Google Shape;96;p18"/>
          <p:cNvSpPr txBox="1"/>
          <p:nvPr>
            <p:ph type="title"/>
          </p:nvPr>
        </p:nvSpPr>
        <p:spPr>
          <a:xfrm>
            <a:off x="533400" y="636240"/>
            <a:ext cx="8319516" cy="333375"/>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333"/>
              </a:buClr>
              <a:buSzPts val="2300"/>
              <a:buFont typeface="Source Serif 4"/>
              <a:buNone/>
            </a:pPr>
            <a:r>
              <a:rPr b="1" i="0" lang="en-GB" sz="2300">
                <a:solidFill>
                  <a:srgbClr val="1B2333"/>
                </a:solidFill>
                <a:latin typeface="Source Serif 4"/>
                <a:ea typeface="Source Serif 4"/>
                <a:cs typeface="Source Serif 4"/>
                <a:sym typeface="Source Serif 4"/>
              </a:rPr>
              <a:t>One training step, start to finish</a:t>
            </a:r>
            <a:endParaRPr sz="2300"/>
          </a:p>
        </p:txBody>
      </p:sp>
      <p:sp>
        <p:nvSpPr>
          <p:cNvPr id="97" name="Google Shape;97;p18"/>
          <p:cNvSpPr/>
          <p:nvPr/>
        </p:nvSpPr>
        <p:spPr>
          <a:xfrm>
            <a:off x="533400" y="1141065"/>
            <a:ext cx="5486400" cy="3086100"/>
          </a:xfrm>
          <a:prstGeom prst="roundRect">
            <a:avLst>
              <a:gd fmla="val 2469"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Animation of one I-JEPA training step: the context encoder and predictor produce predictions, the target encoder embeds the full image and keeps the target blocks, an L2 loss compares them, gradients flow back to the context encoder and predictor only, and the target encoder is updated as a moving average" id="98" name="Google Shape;98;p18"/>
          <p:cNvPicPr preferRelativeResize="0"/>
          <p:nvPr/>
        </p:nvPicPr>
        <p:blipFill rotWithShape="1">
          <a:blip r:embed="rId3">
            <a:alphaModFix/>
          </a:blip>
          <a:srcRect b="0" l="-136" r="-136" t="0"/>
          <a:stretch/>
        </p:blipFill>
        <p:spPr>
          <a:xfrm>
            <a:off x="542925" y="1150590"/>
            <a:ext cx="5467350" cy="3067050"/>
          </a:xfrm>
          <a:prstGeom prst="roundRect">
            <a:avLst>
              <a:gd fmla="val 2174" name="adj"/>
            </a:avLst>
          </a:prstGeom>
          <a:noFill/>
          <a:ln>
            <a:noFill/>
          </a:ln>
        </p:spPr>
      </p:pic>
      <p:sp>
        <p:nvSpPr>
          <p:cNvPr id="99" name="Google Shape;99;p18"/>
          <p:cNvSpPr/>
          <p:nvPr/>
        </p:nvSpPr>
        <p:spPr>
          <a:xfrm>
            <a:off x="538163" y="1145828"/>
            <a:ext cx="5476875" cy="3076575"/>
          </a:xfrm>
          <a:prstGeom prst="roundRect">
            <a:avLst>
              <a:gd fmla="val 232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0" name="Google Shape;100;p18"/>
          <p:cNvSpPr/>
          <p:nvPr/>
        </p:nvSpPr>
        <p:spPr>
          <a:xfrm>
            <a:off x="6286500" y="1179165"/>
            <a:ext cx="2393823" cy="179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558B8"/>
              </a:buClr>
              <a:buSzPts val="1100"/>
              <a:buFont typeface="Inter"/>
              <a:buNone/>
            </a:pPr>
            <a:r>
              <a:rPr b="1" i="0" lang="en-GB" sz="1100" u="none" cap="none" strike="noStrike">
                <a:solidFill>
                  <a:srgbClr val="2558B8"/>
                </a:solidFill>
                <a:latin typeface="Inter"/>
                <a:ea typeface="Inter"/>
                <a:cs typeface="Inter"/>
                <a:sym typeface="Inter"/>
              </a:rPr>
              <a:t>1 · Forward</a:t>
            </a:r>
            <a:endParaRPr b="0" i="0" sz="1100" u="none" cap="none" strike="noStrike">
              <a:solidFill>
                <a:schemeClr val="dk1"/>
              </a:solidFill>
              <a:latin typeface="Inter"/>
              <a:ea typeface="Inter"/>
              <a:cs typeface="Inter"/>
              <a:sym typeface="Inter"/>
            </a:endParaRPr>
          </a:p>
        </p:txBody>
      </p:sp>
      <p:sp>
        <p:nvSpPr>
          <p:cNvPr id="101" name="Google Shape;101;p18"/>
          <p:cNvSpPr/>
          <p:nvPr/>
        </p:nvSpPr>
        <p:spPr>
          <a:xfrm>
            <a:off x="6286500" y="1377256"/>
            <a:ext cx="2393823" cy="65901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900"/>
              <a:buFont typeface="Inter"/>
              <a:buNone/>
            </a:pPr>
            <a:r>
              <a:rPr b="0" i="0" lang="en-GB" sz="900" u="none" cap="none" strike="noStrike">
                <a:solidFill>
                  <a:srgbClr val="4A5263"/>
                </a:solidFill>
                <a:latin typeface="Inter"/>
                <a:ea typeface="Inter"/>
                <a:cs typeface="Inter"/>
                <a:sym typeface="Inter"/>
              </a:rPr>
              <a:t>The context encoder sees only the visible patches. The target encoder sees the whole image; targets are cut from its </a:t>
            </a:r>
            <a:r>
              <a:rPr b="1" i="0" lang="en-GB" sz="900" u="none" cap="none" strike="noStrike">
                <a:solidFill>
                  <a:srgbClr val="4A5263"/>
                </a:solidFill>
                <a:latin typeface="Inter"/>
                <a:ea typeface="Inter"/>
                <a:cs typeface="Inter"/>
                <a:sym typeface="Inter"/>
              </a:rPr>
              <a:t>output</a:t>
            </a:r>
            <a:r>
              <a:rPr b="0" i="0" lang="en-GB" sz="900" u="none" cap="none" strike="noStrike">
                <a:solidFill>
                  <a:srgbClr val="4A5263"/>
                </a:solidFill>
                <a:latin typeface="Inter"/>
                <a:ea typeface="Inter"/>
                <a:cs typeface="Inter"/>
                <a:sym typeface="Inter"/>
              </a:rPr>
              <a:t>.</a:t>
            </a:r>
            <a:endParaRPr b="0" i="0" sz="900" u="none" cap="none" strike="noStrike">
              <a:solidFill>
                <a:schemeClr val="dk1"/>
              </a:solidFill>
              <a:latin typeface="Inter"/>
              <a:ea typeface="Inter"/>
              <a:cs typeface="Inter"/>
              <a:sym typeface="Inter"/>
            </a:endParaRPr>
          </a:p>
        </p:txBody>
      </p:sp>
      <p:sp>
        <p:nvSpPr>
          <p:cNvPr id="102" name="Google Shape;102;p18"/>
          <p:cNvSpPr/>
          <p:nvPr/>
        </p:nvSpPr>
        <p:spPr>
          <a:xfrm>
            <a:off x="6286500" y="2169617"/>
            <a:ext cx="2393823" cy="179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333"/>
              </a:buClr>
              <a:buSzPts val="1100"/>
              <a:buFont typeface="Inter"/>
              <a:buNone/>
            </a:pPr>
            <a:r>
              <a:rPr b="1" i="0" lang="en-GB" sz="1100" u="none" cap="none" strike="noStrike">
                <a:solidFill>
                  <a:srgbClr val="1B2333"/>
                </a:solidFill>
                <a:latin typeface="Inter"/>
                <a:ea typeface="Inter"/>
                <a:cs typeface="Inter"/>
                <a:sym typeface="Inter"/>
              </a:rPr>
              <a:t>2 · Backward</a:t>
            </a:r>
            <a:endParaRPr b="0" i="0" sz="1100" u="none" cap="none" strike="noStrike">
              <a:solidFill>
                <a:schemeClr val="dk1"/>
              </a:solidFill>
              <a:latin typeface="Inter"/>
              <a:ea typeface="Inter"/>
              <a:cs typeface="Inter"/>
              <a:sym typeface="Inter"/>
            </a:endParaRPr>
          </a:p>
        </p:txBody>
      </p:sp>
      <p:sp>
        <p:nvSpPr>
          <p:cNvPr id="103" name="Google Shape;103;p18"/>
          <p:cNvSpPr/>
          <p:nvPr/>
        </p:nvSpPr>
        <p:spPr>
          <a:xfrm>
            <a:off x="6286500" y="2367706"/>
            <a:ext cx="2393823" cy="49902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900"/>
              <a:buFont typeface="Inter"/>
              <a:buNone/>
            </a:pPr>
            <a:r>
              <a:rPr b="0" i="0" lang="en-GB" sz="900" u="none" cap="none" strike="noStrike">
                <a:solidFill>
                  <a:srgbClr val="4A5263"/>
                </a:solidFill>
                <a:latin typeface="Inter"/>
                <a:ea typeface="Inter"/>
                <a:cs typeface="Inter"/>
                <a:sym typeface="Inter"/>
              </a:rPr>
              <a:t>An L2 loss compares predictions with targets. Only the context encoder and predictor get gradients.</a:t>
            </a:r>
            <a:endParaRPr b="0" i="0" sz="900" u="none" cap="none" strike="noStrike">
              <a:solidFill>
                <a:schemeClr val="dk1"/>
              </a:solidFill>
              <a:latin typeface="Inter"/>
              <a:ea typeface="Inter"/>
              <a:cs typeface="Inter"/>
              <a:sym typeface="Inter"/>
            </a:endParaRPr>
          </a:p>
        </p:txBody>
      </p:sp>
      <p:sp>
        <p:nvSpPr>
          <p:cNvPr id="104" name="Google Shape;104;p18"/>
          <p:cNvSpPr/>
          <p:nvPr/>
        </p:nvSpPr>
        <p:spPr>
          <a:xfrm>
            <a:off x="6286500" y="3000077"/>
            <a:ext cx="2393823" cy="179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8540F"/>
              </a:buClr>
              <a:buSzPts val="1100"/>
              <a:buFont typeface="Inter"/>
              <a:buNone/>
            </a:pPr>
            <a:r>
              <a:rPr b="1" i="0" lang="en-GB" sz="1100" u="none" cap="none" strike="noStrike">
                <a:solidFill>
                  <a:srgbClr val="A8540F"/>
                </a:solidFill>
                <a:latin typeface="Inter"/>
                <a:ea typeface="Inter"/>
                <a:cs typeface="Inter"/>
                <a:sym typeface="Inter"/>
              </a:rPr>
              <a:t>3 · EMA update</a:t>
            </a:r>
            <a:endParaRPr b="0" i="0" sz="1100" u="none" cap="none" strike="noStrike">
              <a:solidFill>
                <a:schemeClr val="dk1"/>
              </a:solidFill>
              <a:latin typeface="Inter"/>
              <a:ea typeface="Inter"/>
              <a:cs typeface="Inter"/>
              <a:sym typeface="Inter"/>
            </a:endParaRPr>
          </a:p>
        </p:txBody>
      </p:sp>
      <p:sp>
        <p:nvSpPr>
          <p:cNvPr id="105" name="Google Shape;105;p18"/>
          <p:cNvSpPr/>
          <p:nvPr/>
        </p:nvSpPr>
        <p:spPr>
          <a:xfrm>
            <a:off x="6286500" y="3198167"/>
            <a:ext cx="2393823" cy="33903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900"/>
              <a:buFont typeface="Inter"/>
              <a:buNone/>
            </a:pPr>
            <a:r>
              <a:rPr b="0" i="0" lang="en-GB" sz="900" u="none" cap="none" strike="noStrike">
                <a:solidFill>
                  <a:srgbClr val="4A5263"/>
                </a:solidFill>
                <a:latin typeface="Inter"/>
                <a:ea typeface="Inter"/>
                <a:cs typeface="Inter"/>
                <a:sym typeface="Inter"/>
              </a:rPr>
              <a:t>The target encoder follows the context encoder as a slow moving average.</a:t>
            </a:r>
            <a:endParaRPr b="0" i="0" sz="900" u="none" cap="none" strike="noStrike">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10" name="Shape 110"/>
        <p:cNvGrpSpPr/>
        <p:nvPr/>
      </p:nvGrpSpPr>
      <p:grpSpPr>
        <a:xfrm>
          <a:off x="0" y="0"/>
          <a:ext cx="0" cy="0"/>
          <a:chOff x="0" y="0"/>
          <a:chExt cx="0" cy="0"/>
        </a:xfrm>
      </p:grpSpPr>
      <p:sp>
        <p:nvSpPr>
          <p:cNvPr id="111" name="Google Shape;111;p19"/>
          <p:cNvSpPr/>
          <p:nvPr/>
        </p:nvSpPr>
        <p:spPr>
          <a:xfrm>
            <a:off x="533400" y="419100"/>
            <a:ext cx="8319516"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45BF"/>
              </a:buClr>
              <a:buSzPts val="900"/>
              <a:buFont typeface="Inter"/>
              <a:buNone/>
            </a:pPr>
            <a:r>
              <a:rPr b="1" i="0" lang="en-GB" spc="100" sz="900" u="none" cap="none" strike="noStrike">
                <a:solidFill>
                  <a:srgbClr val="6A45BF"/>
                </a:solidFill>
                <a:latin typeface="Inter"/>
                <a:ea typeface="Inter"/>
                <a:cs typeface="Inter"/>
                <a:sym typeface="Inter"/>
              </a:rPr>
              <a:t>AFTER PRE-TRAINING · INFERENCE</a:t>
            </a:r>
            <a:endParaRPr b="0" i="0" sz="900" u="none" cap="none" strike="noStrike">
              <a:solidFill>
                <a:schemeClr val="dk1"/>
              </a:solidFill>
              <a:latin typeface="Inter"/>
              <a:ea typeface="Inter"/>
              <a:cs typeface="Inter"/>
              <a:sym typeface="Inter"/>
            </a:endParaRPr>
          </a:p>
        </p:txBody>
      </p:sp>
      <p:sp>
        <p:nvSpPr>
          <p:cNvPr id="112" name="Google Shape;112;p19"/>
          <p:cNvSpPr txBox="1"/>
          <p:nvPr>
            <p:ph type="title"/>
          </p:nvPr>
        </p:nvSpPr>
        <p:spPr>
          <a:xfrm>
            <a:off x="533400" y="636240"/>
            <a:ext cx="8319516" cy="333375"/>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333"/>
              </a:buClr>
              <a:buSzPts val="2300"/>
              <a:buFont typeface="Source Serif 4"/>
              <a:buNone/>
            </a:pPr>
            <a:r>
              <a:rPr b="1" i="0" lang="en-GB" sz="2300">
                <a:solidFill>
                  <a:srgbClr val="1B2333"/>
                </a:solidFill>
                <a:latin typeface="Source Serif 4"/>
                <a:ea typeface="Source Serif 4"/>
                <a:cs typeface="Source Serif 4"/>
                <a:sym typeface="Source Serif 4"/>
              </a:rPr>
              <a:t>Using the trained encoder</a:t>
            </a:r>
            <a:endParaRPr sz="2300"/>
          </a:p>
        </p:txBody>
      </p:sp>
      <p:sp>
        <p:nvSpPr>
          <p:cNvPr id="113" name="Google Shape;113;p19"/>
          <p:cNvSpPr/>
          <p:nvPr/>
        </p:nvSpPr>
        <p:spPr>
          <a:xfrm>
            <a:off x="533400" y="1141065"/>
            <a:ext cx="5486400" cy="3086100"/>
          </a:xfrm>
          <a:prstGeom prst="roundRect">
            <a:avLst>
              <a:gd fmla="val 2469"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Animation of inference: the context encoder and predictor are discarded, the frozen target encoder embeds a new image, the 196 patch embeddings are averaged into one vector, and a linear head outputs a class or an object count" id="114" name="Google Shape;114;p19"/>
          <p:cNvPicPr preferRelativeResize="0"/>
          <p:nvPr/>
        </p:nvPicPr>
        <p:blipFill rotWithShape="1">
          <a:blip r:embed="rId3">
            <a:alphaModFix/>
          </a:blip>
          <a:srcRect b="0" l="-136" r="-136" t="0"/>
          <a:stretch/>
        </p:blipFill>
        <p:spPr>
          <a:xfrm>
            <a:off x="542925" y="1150590"/>
            <a:ext cx="5467350" cy="3067050"/>
          </a:xfrm>
          <a:prstGeom prst="roundRect">
            <a:avLst>
              <a:gd fmla="val 2174" name="adj"/>
            </a:avLst>
          </a:prstGeom>
          <a:noFill/>
          <a:ln>
            <a:noFill/>
          </a:ln>
        </p:spPr>
      </p:pic>
      <p:sp>
        <p:nvSpPr>
          <p:cNvPr id="115" name="Google Shape;115;p19"/>
          <p:cNvSpPr/>
          <p:nvPr/>
        </p:nvSpPr>
        <p:spPr>
          <a:xfrm>
            <a:off x="538163" y="1145828"/>
            <a:ext cx="5476875" cy="3076575"/>
          </a:xfrm>
          <a:prstGeom prst="roundRect">
            <a:avLst>
              <a:gd fmla="val 232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 name="Google Shape;116;p19"/>
          <p:cNvSpPr/>
          <p:nvPr/>
        </p:nvSpPr>
        <p:spPr>
          <a:xfrm>
            <a:off x="6286500" y="1179165"/>
            <a:ext cx="2393823" cy="179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8540F"/>
              </a:buClr>
              <a:buSzPts val="1100"/>
              <a:buFont typeface="Inter"/>
              <a:buNone/>
            </a:pPr>
            <a:r>
              <a:rPr b="1" i="0" lang="en-GB" sz="1100" u="none" cap="none" strike="noStrike">
                <a:solidFill>
                  <a:srgbClr val="A8540F"/>
                </a:solidFill>
                <a:latin typeface="Inter"/>
                <a:ea typeface="Inter"/>
                <a:cs typeface="Inter"/>
                <a:sym typeface="Inter"/>
              </a:rPr>
              <a:t>Keep one encoder, frozen</a:t>
            </a:r>
            <a:endParaRPr b="0" i="0" sz="1100" u="none" cap="none" strike="noStrike">
              <a:solidFill>
                <a:schemeClr val="dk1"/>
              </a:solidFill>
              <a:latin typeface="Inter"/>
              <a:ea typeface="Inter"/>
              <a:cs typeface="Inter"/>
              <a:sym typeface="Inter"/>
            </a:endParaRPr>
          </a:p>
        </p:txBody>
      </p:sp>
      <p:sp>
        <p:nvSpPr>
          <p:cNvPr id="117" name="Google Shape;117;p19"/>
          <p:cNvSpPr/>
          <p:nvPr/>
        </p:nvSpPr>
        <p:spPr>
          <a:xfrm>
            <a:off x="6286500" y="1377256"/>
            <a:ext cx="2393823" cy="33903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900"/>
              <a:buFont typeface="Inter"/>
              <a:buNone/>
            </a:pPr>
            <a:r>
              <a:rPr b="0" i="0" lang="en-GB" sz="900" u="none" cap="none" strike="noStrike">
                <a:solidFill>
                  <a:srgbClr val="4A5263"/>
                </a:solidFill>
                <a:latin typeface="Inter"/>
                <a:ea typeface="Inter"/>
                <a:cs typeface="Inter"/>
                <a:sym typeface="Inter"/>
              </a:rPr>
              <a:t>The target encoder is kept. The context encoder and predictor are dropped.</a:t>
            </a:r>
            <a:endParaRPr b="0" i="0" sz="900" u="none" cap="none" strike="noStrike">
              <a:solidFill>
                <a:schemeClr val="dk1"/>
              </a:solidFill>
              <a:latin typeface="Inter"/>
              <a:ea typeface="Inter"/>
              <a:cs typeface="Inter"/>
              <a:sym typeface="Inter"/>
            </a:endParaRPr>
          </a:p>
        </p:txBody>
      </p:sp>
      <p:sp>
        <p:nvSpPr>
          <p:cNvPr id="118" name="Google Shape;118;p19"/>
          <p:cNvSpPr/>
          <p:nvPr/>
        </p:nvSpPr>
        <p:spPr>
          <a:xfrm>
            <a:off x="6286500" y="1849636"/>
            <a:ext cx="2393823" cy="179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333"/>
              </a:buClr>
              <a:buSzPts val="1100"/>
              <a:buFont typeface="Inter"/>
              <a:buNone/>
            </a:pPr>
            <a:r>
              <a:rPr b="1" i="0" lang="en-GB" sz="1100" u="none" cap="none" strike="noStrike">
                <a:solidFill>
                  <a:srgbClr val="1B2333"/>
                </a:solidFill>
                <a:latin typeface="Inter"/>
                <a:ea typeface="Inter"/>
                <a:cs typeface="Inter"/>
                <a:sym typeface="Inter"/>
              </a:rPr>
              <a:t>Pool, then one linear layer</a:t>
            </a:r>
            <a:endParaRPr b="0" i="0" sz="1100" u="none" cap="none" strike="noStrike">
              <a:solidFill>
                <a:schemeClr val="dk1"/>
              </a:solidFill>
              <a:latin typeface="Inter"/>
              <a:ea typeface="Inter"/>
              <a:cs typeface="Inter"/>
              <a:sym typeface="Inter"/>
            </a:endParaRPr>
          </a:p>
        </p:txBody>
      </p:sp>
      <p:sp>
        <p:nvSpPr>
          <p:cNvPr id="119" name="Google Shape;119;p19"/>
          <p:cNvSpPr/>
          <p:nvPr/>
        </p:nvSpPr>
        <p:spPr>
          <a:xfrm>
            <a:off x="6286500" y="2047727"/>
            <a:ext cx="2393823" cy="33903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900"/>
              <a:buFont typeface="Inter"/>
              <a:buNone/>
            </a:pPr>
            <a:r>
              <a:rPr b="0" i="0" lang="en-GB" sz="900" u="none" cap="none" strike="noStrike">
                <a:solidFill>
                  <a:srgbClr val="4A5263"/>
                </a:solidFill>
                <a:latin typeface="Inter"/>
                <a:ea typeface="Inter"/>
                <a:cs typeface="Inter"/>
                <a:sym typeface="Inter"/>
              </a:rPr>
              <a:t>Average the patch embeddings into one vector. Only a linear layer on top is trained.</a:t>
            </a:r>
            <a:endParaRPr b="0" i="0" sz="900" u="none" cap="none" strike="noStrike">
              <a:solidFill>
                <a:schemeClr val="dk1"/>
              </a:solidFill>
              <a:latin typeface="Inter"/>
              <a:ea typeface="Inter"/>
              <a:cs typeface="Inter"/>
              <a:sym typeface="Inter"/>
            </a:endParaRPr>
          </a:p>
        </p:txBody>
      </p:sp>
      <p:sp>
        <p:nvSpPr>
          <p:cNvPr id="120" name="Google Shape;120;p19"/>
          <p:cNvSpPr/>
          <p:nvPr/>
        </p:nvSpPr>
        <p:spPr>
          <a:xfrm>
            <a:off x="6286500" y="2520107"/>
            <a:ext cx="2393823" cy="1790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D7A52"/>
              </a:buClr>
              <a:buSzPts val="1100"/>
              <a:buFont typeface="Inter"/>
              <a:buNone/>
            </a:pPr>
            <a:r>
              <a:rPr b="1" i="0" lang="en-GB" sz="1100" u="none" cap="none" strike="noStrike">
                <a:solidFill>
                  <a:srgbClr val="1D7A52"/>
                </a:solidFill>
                <a:latin typeface="Inter"/>
                <a:ea typeface="Inter"/>
                <a:cs typeface="Inter"/>
                <a:sym typeface="Inter"/>
              </a:rPr>
              <a:t>One model, many tasks</a:t>
            </a:r>
            <a:endParaRPr b="0" i="0" sz="1100" u="none" cap="none" strike="noStrike">
              <a:solidFill>
                <a:schemeClr val="dk1"/>
              </a:solidFill>
              <a:latin typeface="Inter"/>
              <a:ea typeface="Inter"/>
              <a:cs typeface="Inter"/>
              <a:sym typeface="Inter"/>
            </a:endParaRPr>
          </a:p>
        </p:txBody>
      </p:sp>
      <p:sp>
        <p:nvSpPr>
          <p:cNvPr id="121" name="Google Shape;121;p19"/>
          <p:cNvSpPr/>
          <p:nvPr/>
        </p:nvSpPr>
        <p:spPr>
          <a:xfrm>
            <a:off x="6286500" y="2718197"/>
            <a:ext cx="2393823" cy="33903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900"/>
              <a:buFont typeface="Inter"/>
              <a:buNone/>
            </a:pPr>
            <a:r>
              <a:rPr b="0" i="0" lang="en-GB" sz="900" u="none" cap="none" strike="noStrike">
                <a:solidFill>
                  <a:srgbClr val="4A5263"/>
                </a:solidFill>
                <a:latin typeface="Inter"/>
                <a:ea typeface="Inter"/>
                <a:cs typeface="Inter"/>
                <a:sym typeface="Inter"/>
              </a:rPr>
              <a:t>On Clevr depth, I-JEPA scores </a:t>
            </a:r>
            <a:r>
              <a:rPr b="1" i="0" lang="en-GB" sz="900" u="none" cap="none" strike="noStrike">
                <a:solidFill>
                  <a:srgbClr val="4A5263"/>
                </a:solidFill>
                <a:latin typeface="Inter"/>
                <a:ea typeface="Inter"/>
                <a:cs typeface="Inter"/>
                <a:sym typeface="Inter"/>
              </a:rPr>
              <a:t>72.4</a:t>
            </a:r>
            <a:r>
              <a:rPr b="0" i="0" lang="en-GB" sz="900" u="none" cap="none" strike="noStrike">
                <a:solidFill>
                  <a:srgbClr val="4A5263"/>
                </a:solidFill>
                <a:latin typeface="Inter"/>
                <a:ea typeface="Inter"/>
                <a:cs typeface="Inter"/>
                <a:sym typeface="Inter"/>
              </a:rPr>
              <a:t> vs. </a:t>
            </a:r>
            <a:r>
              <a:rPr b="1" i="0" lang="en-GB" sz="900" u="none" cap="none" strike="noStrike">
                <a:solidFill>
                  <a:srgbClr val="4A5263"/>
                </a:solidFill>
                <a:latin typeface="Inter"/>
                <a:ea typeface="Inter"/>
                <a:cs typeface="Inter"/>
                <a:sym typeface="Inter"/>
              </a:rPr>
              <a:t>53.4</a:t>
            </a:r>
            <a:r>
              <a:rPr b="0" i="0" lang="en-GB" sz="900" u="none" cap="none" strike="noStrike">
                <a:solidFill>
                  <a:srgbClr val="4A5263"/>
                </a:solidFill>
                <a:latin typeface="Inter"/>
                <a:ea typeface="Inter"/>
                <a:cs typeface="Inter"/>
                <a:sym typeface="Inter"/>
              </a:rPr>
              <a:t> for DINO and </a:t>
            </a:r>
            <a:r>
              <a:rPr b="1" i="0" lang="en-GB" sz="900" u="none" cap="none" strike="noStrike">
                <a:solidFill>
                  <a:srgbClr val="4A5263"/>
                </a:solidFill>
                <a:latin typeface="Inter"/>
                <a:ea typeface="Inter"/>
                <a:cs typeface="Inter"/>
                <a:sym typeface="Inter"/>
              </a:rPr>
              <a:t>62.8</a:t>
            </a:r>
            <a:r>
              <a:rPr b="0" i="0" lang="en-GB" sz="900" u="none" cap="none" strike="noStrike">
                <a:solidFill>
                  <a:srgbClr val="4A5263"/>
                </a:solidFill>
                <a:latin typeface="Inter"/>
                <a:ea typeface="Inter"/>
                <a:cs typeface="Inter"/>
                <a:sym typeface="Inter"/>
              </a:rPr>
              <a:t> for iBOT (Table 4).</a:t>
            </a:r>
            <a:endParaRPr b="0" i="0" sz="900" u="none" cap="none" strike="noStrike">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26" name="Shape 126"/>
        <p:cNvGrpSpPr/>
        <p:nvPr/>
      </p:nvGrpSpPr>
      <p:grpSpPr>
        <a:xfrm>
          <a:off x="0" y="0"/>
          <a:ext cx="0" cy="0"/>
          <a:chOff x="0" y="0"/>
          <a:chExt cx="0" cy="0"/>
        </a:xfrm>
      </p:grpSpPr>
      <p:sp>
        <p:nvSpPr>
          <p:cNvPr id="127" name="Google Shape;127;p20"/>
          <p:cNvSpPr/>
          <p:nvPr/>
        </p:nvSpPr>
        <p:spPr>
          <a:xfrm>
            <a:off x="533400" y="419100"/>
            <a:ext cx="8319516"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45BF"/>
              </a:buClr>
              <a:buSzPts val="900"/>
              <a:buFont typeface="Inter"/>
              <a:buNone/>
            </a:pPr>
            <a:r>
              <a:rPr b="1" i="0" lang="en-GB" spc="100" sz="900" u="none" cap="none" strike="noStrike">
                <a:solidFill>
                  <a:srgbClr val="6A45BF"/>
                </a:solidFill>
                <a:latin typeface="Inter"/>
                <a:ea typeface="Inter"/>
                <a:cs typeface="Inter"/>
                <a:sym typeface="Inter"/>
              </a:rPr>
              <a:t>FIGURE 1 · TABLE 1 · RESULTS</a:t>
            </a:r>
            <a:endParaRPr b="0" i="0" sz="900" u="none" cap="none" strike="noStrike">
              <a:solidFill>
                <a:schemeClr val="dk1"/>
              </a:solidFill>
              <a:latin typeface="Inter"/>
              <a:ea typeface="Inter"/>
              <a:cs typeface="Inter"/>
              <a:sym typeface="Inter"/>
            </a:endParaRPr>
          </a:p>
        </p:txBody>
      </p:sp>
      <p:sp>
        <p:nvSpPr>
          <p:cNvPr id="128" name="Google Shape;128;p20"/>
          <p:cNvSpPr txBox="1"/>
          <p:nvPr>
            <p:ph type="title"/>
          </p:nvPr>
        </p:nvSpPr>
        <p:spPr>
          <a:xfrm>
            <a:off x="533400" y="636240"/>
            <a:ext cx="8319516" cy="333375"/>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333"/>
              </a:buClr>
              <a:buSzPts val="2300"/>
              <a:buFont typeface="Source Serif 4"/>
              <a:buNone/>
            </a:pPr>
            <a:r>
              <a:rPr b="1" i="0" lang="en-GB" sz="2300">
                <a:solidFill>
                  <a:srgbClr val="1B2333"/>
                </a:solidFill>
                <a:latin typeface="Source Serif 4"/>
                <a:ea typeface="Source Serif 4"/>
                <a:cs typeface="Source Serif 4"/>
                <a:sym typeface="Source Serif 4"/>
              </a:rPr>
              <a:t>Better features for less compute</a:t>
            </a:r>
            <a:endParaRPr sz="2300"/>
          </a:p>
        </p:txBody>
      </p:sp>
      <p:sp>
        <p:nvSpPr>
          <p:cNvPr id="129" name="Google Shape;129;p20"/>
          <p:cNvSpPr/>
          <p:nvPr/>
        </p:nvSpPr>
        <p:spPr>
          <a:xfrm>
            <a:off x="533400" y="1141065"/>
            <a:ext cx="5486400" cy="3086100"/>
          </a:xfrm>
          <a:prstGeom prst="roundRect">
            <a:avLst>
              <a:gd fmla="val 2469"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Animated charts: ImageNet linear-probe top-1 accuracy for I-JEPA (81.1 and 79.3), CAE (78.1), data2vec (77.3) and MAE (77.2), with iBOT at 81.0 as a reference; and pretraining compute relative to I-JEPA ViT-H/14: iBOT ViT-S/16 over 2.5 times, MAE ViT-H/14 over 10 times" id="130" name="Google Shape;130;p20"/>
          <p:cNvPicPr preferRelativeResize="0"/>
          <p:nvPr/>
        </p:nvPicPr>
        <p:blipFill rotWithShape="1">
          <a:blip r:embed="rId3">
            <a:alphaModFix/>
          </a:blip>
          <a:srcRect b="0" l="-136" r="-136" t="0"/>
          <a:stretch/>
        </p:blipFill>
        <p:spPr>
          <a:xfrm>
            <a:off x="542925" y="1150590"/>
            <a:ext cx="5467350" cy="3067050"/>
          </a:xfrm>
          <a:prstGeom prst="roundRect">
            <a:avLst>
              <a:gd fmla="val 2174" name="adj"/>
            </a:avLst>
          </a:prstGeom>
          <a:noFill/>
          <a:ln>
            <a:noFill/>
          </a:ln>
        </p:spPr>
      </p:pic>
      <p:sp>
        <p:nvSpPr>
          <p:cNvPr id="131" name="Google Shape;131;p20"/>
          <p:cNvSpPr/>
          <p:nvPr/>
        </p:nvSpPr>
        <p:spPr>
          <a:xfrm>
            <a:off x="538163" y="1145828"/>
            <a:ext cx="5476875" cy="3076575"/>
          </a:xfrm>
          <a:prstGeom prst="roundRect">
            <a:avLst>
              <a:gd fmla="val 232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2" name="Google Shape;132;p20"/>
          <p:cNvSpPr/>
          <p:nvPr/>
        </p:nvSpPr>
        <p:spPr>
          <a:xfrm>
            <a:off x="6286500" y="1179165"/>
            <a:ext cx="2393823" cy="3123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6A45BF"/>
              </a:buClr>
              <a:buSzPts val="2100"/>
              <a:buFont typeface="Source Serif 4"/>
              <a:buNone/>
            </a:pPr>
            <a:r>
              <a:rPr b="1" i="0" lang="en-GB" sz="2100" u="none" cap="none" strike="noStrike">
                <a:solidFill>
                  <a:srgbClr val="6A45BF"/>
                </a:solidFill>
                <a:latin typeface="Source Serif 4"/>
                <a:ea typeface="Source Serif 4"/>
                <a:cs typeface="Source Serif 4"/>
                <a:sym typeface="Source Serif 4"/>
              </a:rPr>
              <a:t>+2.1</a:t>
            </a:r>
            <a:endParaRPr b="0" i="0" sz="2100" u="none" cap="none" strike="noStrike">
              <a:solidFill>
                <a:schemeClr val="dk1"/>
              </a:solidFill>
              <a:latin typeface="Inter"/>
              <a:ea typeface="Inter"/>
              <a:cs typeface="Inter"/>
              <a:sym typeface="Inter"/>
            </a:endParaRPr>
          </a:p>
        </p:txBody>
      </p:sp>
      <p:sp>
        <p:nvSpPr>
          <p:cNvPr id="133" name="Google Shape;133;p20"/>
          <p:cNvSpPr/>
          <p:nvPr/>
        </p:nvSpPr>
        <p:spPr>
          <a:xfrm>
            <a:off x="6286500" y="1510606"/>
            <a:ext cx="2393823" cy="33903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900"/>
              <a:buFont typeface="Inter"/>
              <a:buNone/>
            </a:pPr>
            <a:r>
              <a:rPr b="0" i="0" lang="en-GB" sz="900" u="none" cap="none" strike="noStrike">
                <a:solidFill>
                  <a:srgbClr val="4A5263"/>
                </a:solidFill>
                <a:latin typeface="Inter"/>
                <a:ea typeface="Inter"/>
                <a:cs typeface="Inter"/>
                <a:sym typeface="Inter"/>
              </a:rPr>
              <a:t>points over MAE at the same size (ViT-H/14), after 300 epochs instead of 1,600.</a:t>
            </a:r>
            <a:endParaRPr b="0" i="0" sz="900" u="none" cap="none" strike="noStrike">
              <a:solidFill>
                <a:schemeClr val="dk1"/>
              </a:solidFill>
              <a:latin typeface="Inter"/>
              <a:ea typeface="Inter"/>
              <a:cs typeface="Inter"/>
              <a:sym typeface="Inter"/>
            </a:endParaRPr>
          </a:p>
        </p:txBody>
      </p:sp>
      <p:sp>
        <p:nvSpPr>
          <p:cNvPr id="134" name="Google Shape;134;p20"/>
          <p:cNvSpPr/>
          <p:nvPr/>
        </p:nvSpPr>
        <p:spPr>
          <a:xfrm>
            <a:off x="6286500" y="1982986"/>
            <a:ext cx="2393823" cy="3123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6A45BF"/>
              </a:buClr>
              <a:buSzPts val="2100"/>
              <a:buFont typeface="Source Serif 4"/>
              <a:buNone/>
            </a:pPr>
            <a:r>
              <a:rPr b="1" i="0" lang="en-GB" sz="2100" u="none" cap="none" strike="noStrike">
                <a:solidFill>
                  <a:srgbClr val="6A45BF"/>
                </a:solidFill>
                <a:latin typeface="Source Serif 4"/>
                <a:ea typeface="Source Serif 4"/>
                <a:cs typeface="Source Serif 4"/>
                <a:sym typeface="Source Serif 4"/>
              </a:rPr>
              <a:t>81.1</a:t>
            </a:r>
            <a:endParaRPr b="0" i="0" sz="2100" u="none" cap="none" strike="noStrike">
              <a:solidFill>
                <a:schemeClr val="dk1"/>
              </a:solidFill>
              <a:latin typeface="Inter"/>
              <a:ea typeface="Inter"/>
              <a:cs typeface="Inter"/>
              <a:sym typeface="Inter"/>
            </a:endParaRPr>
          </a:p>
        </p:txBody>
      </p:sp>
      <p:sp>
        <p:nvSpPr>
          <p:cNvPr id="135" name="Google Shape;135;p20"/>
          <p:cNvSpPr/>
          <p:nvPr/>
        </p:nvSpPr>
        <p:spPr>
          <a:xfrm>
            <a:off x="6286500" y="2314427"/>
            <a:ext cx="2393823" cy="33903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900"/>
              <a:buFont typeface="Inter"/>
              <a:buNone/>
            </a:pPr>
            <a:r>
              <a:rPr b="0" i="0" lang="en-GB" sz="900" u="none" cap="none" strike="noStrike">
                <a:solidFill>
                  <a:srgbClr val="4A5263"/>
                </a:solidFill>
                <a:latin typeface="Inter"/>
                <a:ea typeface="Inter"/>
                <a:cs typeface="Inter"/>
                <a:sym typeface="Inter"/>
              </a:rPr>
              <a:t>top-1 at 448 px, level with iBOT's 81.0, without hand-made views.</a:t>
            </a:r>
            <a:endParaRPr b="0" i="0" sz="900" u="none" cap="none" strike="noStrike">
              <a:solidFill>
                <a:schemeClr val="dk1"/>
              </a:solidFill>
              <a:latin typeface="Inter"/>
              <a:ea typeface="Inter"/>
              <a:cs typeface="Inter"/>
              <a:sym typeface="Inter"/>
            </a:endParaRPr>
          </a:p>
        </p:txBody>
      </p:sp>
      <p:sp>
        <p:nvSpPr>
          <p:cNvPr id="136" name="Google Shape;136;p20"/>
          <p:cNvSpPr/>
          <p:nvPr/>
        </p:nvSpPr>
        <p:spPr>
          <a:xfrm>
            <a:off x="6286500" y="2786807"/>
            <a:ext cx="2393823" cy="3123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6A45BF"/>
              </a:buClr>
              <a:buSzPts val="2100"/>
              <a:buFont typeface="Source Serif 4"/>
              <a:buNone/>
            </a:pPr>
            <a:r>
              <a:rPr b="1" i="0" lang="en-GB" sz="2100" u="none" cap="none" strike="noStrike">
                <a:solidFill>
                  <a:srgbClr val="6A45BF"/>
                </a:solidFill>
                <a:latin typeface="Source Serif 4"/>
                <a:ea typeface="Source Serif 4"/>
                <a:cs typeface="Source Serif 4"/>
                <a:sym typeface="Source Serif 4"/>
              </a:rPr>
              <a:t>&lt; 72 h</a:t>
            </a:r>
            <a:endParaRPr b="0" i="0" sz="2100" u="none" cap="none" strike="noStrike">
              <a:solidFill>
                <a:schemeClr val="dk1"/>
              </a:solidFill>
              <a:latin typeface="Inter"/>
              <a:ea typeface="Inter"/>
              <a:cs typeface="Inter"/>
              <a:sym typeface="Inter"/>
            </a:endParaRPr>
          </a:p>
        </p:txBody>
      </p:sp>
      <p:sp>
        <p:nvSpPr>
          <p:cNvPr id="137" name="Google Shape;137;p20"/>
          <p:cNvSpPr/>
          <p:nvPr/>
        </p:nvSpPr>
        <p:spPr>
          <a:xfrm>
            <a:off x="6286500" y="3118247"/>
            <a:ext cx="2393823"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263"/>
              </a:buClr>
              <a:buSzPts val="900"/>
              <a:buFont typeface="Inter"/>
              <a:buNone/>
            </a:pPr>
            <a:r>
              <a:rPr b="0" i="0" lang="en-GB" sz="900" u="none" cap="none" strike="noStrike">
                <a:solidFill>
                  <a:srgbClr val="4A5263"/>
                </a:solidFill>
                <a:latin typeface="Inter"/>
                <a:ea typeface="Inter"/>
                <a:cs typeface="Inter"/>
                <a:sym typeface="Inter"/>
              </a:rPr>
              <a:t>to pre-train a ViT-H/14 on 16 A100 GPUs.</a:t>
            </a:r>
            <a:endParaRPr b="0" i="0" sz="900" u="none" cap="none" strike="noStrike">
              <a:solidFill>
                <a:schemeClr val="dk1"/>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42" name="Shape 142"/>
        <p:cNvGrpSpPr/>
        <p:nvPr/>
      </p:nvGrpSpPr>
      <p:grpSpPr>
        <a:xfrm>
          <a:off x="0" y="0"/>
          <a:ext cx="0" cy="0"/>
          <a:chOff x="0" y="0"/>
          <a:chExt cx="0" cy="0"/>
        </a:xfrm>
      </p:grpSpPr>
      <p:sp>
        <p:nvSpPr>
          <p:cNvPr id="143" name="Google Shape;143;p21"/>
          <p:cNvSpPr/>
          <p:nvPr/>
        </p:nvSpPr>
        <p:spPr>
          <a:xfrm>
            <a:off x="533400" y="419100"/>
            <a:ext cx="8319516"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45BF"/>
              </a:buClr>
              <a:buSzPts val="900"/>
              <a:buFont typeface="Inter"/>
              <a:buNone/>
            </a:pPr>
            <a:r>
              <a:rPr b="1" i="0" lang="en-GB" spc="100" sz="900" u="none" cap="none" strike="noStrike">
                <a:solidFill>
                  <a:srgbClr val="6A45BF"/>
                </a:solidFill>
                <a:latin typeface="Inter"/>
                <a:ea typeface="Inter"/>
                <a:cs typeface="Inter"/>
                <a:sym typeface="Inter"/>
              </a:rPr>
              <a:t>A CRITICAL READING · 1 OF 3</a:t>
            </a:r>
            <a:endParaRPr b="0" i="0" sz="900" u="none" cap="none" strike="noStrike">
              <a:solidFill>
                <a:schemeClr val="dk1"/>
              </a:solidFill>
              <a:latin typeface="Inter"/>
              <a:ea typeface="Inter"/>
              <a:cs typeface="Inter"/>
              <a:sym typeface="Inter"/>
            </a:endParaRPr>
          </a:p>
        </p:txBody>
      </p:sp>
      <p:sp>
        <p:nvSpPr>
          <p:cNvPr id="144" name="Google Shape;144;p21"/>
          <p:cNvSpPr txBox="1"/>
          <p:nvPr>
            <p:ph type="title"/>
          </p:nvPr>
        </p:nvSpPr>
        <p:spPr>
          <a:xfrm>
            <a:off x="533400" y="636240"/>
            <a:ext cx="8319516" cy="333375"/>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333"/>
              </a:buClr>
              <a:buSzPts val="2300"/>
              <a:buFont typeface="Source Serif 4"/>
              <a:buNone/>
            </a:pPr>
            <a:r>
              <a:rPr b="1" i="0" lang="en-GB" sz="2300">
                <a:solidFill>
                  <a:srgbClr val="1B2333"/>
                </a:solidFill>
                <a:latin typeface="Source Serif 4"/>
                <a:ea typeface="Source Serif 4"/>
                <a:cs typeface="Source Serif 4"/>
                <a:sym typeface="Source Serif 4"/>
              </a:rPr>
              <a:t>The loss alone does not rule out collapse</a:t>
            </a:r>
            <a:endParaRPr sz="2300"/>
          </a:p>
        </p:txBody>
      </p:sp>
      <p:sp>
        <p:nvSpPr>
          <p:cNvPr id="145" name="Google Shape;145;p21"/>
          <p:cNvSpPr/>
          <p:nvPr/>
        </p:nvSpPr>
        <p:spPr>
          <a:xfrm>
            <a:off x="533400" y="1141065"/>
            <a:ext cx="5486400" cy="3086100"/>
          </a:xfrm>
          <a:prstGeom prst="roundRect">
            <a:avLst>
              <a:gd fmla="val 2469"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Schematic animation: three clusters of image embeddings merge into a single point while the training loss falls smoothly to zero and the spread between images drops to zero" id="146" name="Google Shape;146;p21"/>
          <p:cNvPicPr preferRelativeResize="0"/>
          <p:nvPr/>
        </p:nvPicPr>
        <p:blipFill rotWithShape="1">
          <a:blip r:embed="rId3">
            <a:alphaModFix/>
          </a:blip>
          <a:srcRect b="0" l="-136" r="-136" t="0"/>
          <a:stretch/>
        </p:blipFill>
        <p:spPr>
          <a:xfrm>
            <a:off x="542925" y="1150590"/>
            <a:ext cx="5467350" cy="3067050"/>
          </a:xfrm>
          <a:prstGeom prst="roundRect">
            <a:avLst>
              <a:gd fmla="val 2174" name="adj"/>
            </a:avLst>
          </a:prstGeom>
          <a:noFill/>
          <a:ln>
            <a:noFill/>
          </a:ln>
        </p:spPr>
      </p:pic>
      <p:sp>
        <p:nvSpPr>
          <p:cNvPr id="147" name="Google Shape;147;p21"/>
          <p:cNvSpPr/>
          <p:nvPr/>
        </p:nvSpPr>
        <p:spPr>
          <a:xfrm>
            <a:off x="538163" y="1145828"/>
            <a:ext cx="5476875" cy="3076575"/>
          </a:xfrm>
          <a:prstGeom prst="roundRect">
            <a:avLst>
              <a:gd fmla="val 232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8" name="Google Shape;148;p21"/>
          <p:cNvSpPr/>
          <p:nvPr/>
        </p:nvSpPr>
        <p:spPr>
          <a:xfrm>
            <a:off x="6286500" y="1179165"/>
            <a:ext cx="2393823"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45BF"/>
              </a:buClr>
              <a:buSzPts val="900"/>
              <a:buFont typeface="Inter"/>
              <a:buNone/>
            </a:pPr>
            <a:r>
              <a:rPr b="1" i="0" lang="en-GB" sz="900" u="none" cap="none" strike="noStrike">
                <a:solidFill>
                  <a:srgbClr val="6A45BF"/>
                </a:solidFill>
                <a:latin typeface="Inter"/>
                <a:ea typeface="Inter"/>
                <a:cs typeface="Inter"/>
                <a:sym typeface="Inter"/>
              </a:rPr>
              <a:t>From reviews and follow-up papers</a:t>
            </a:r>
            <a:endParaRPr b="0" i="0" sz="900" u="none" cap="none" strike="noStrike">
              <a:solidFill>
                <a:schemeClr val="dk1"/>
              </a:solidFill>
              <a:latin typeface="Inter"/>
              <a:ea typeface="Inter"/>
              <a:cs typeface="Inter"/>
              <a:sym typeface="Inter"/>
            </a:endParaRPr>
          </a:p>
        </p:txBody>
      </p:sp>
      <p:sp>
        <p:nvSpPr>
          <p:cNvPr id="149" name="Google Shape;149;p21"/>
          <p:cNvSpPr/>
          <p:nvPr/>
        </p:nvSpPr>
        <p:spPr>
          <a:xfrm>
            <a:off x="6286500" y="1529656"/>
            <a:ext cx="2393823" cy="379016"/>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B2333"/>
              </a:buClr>
              <a:buSzPts val="1100"/>
              <a:buFont typeface="Source Serif 4"/>
              <a:buNone/>
            </a:pPr>
            <a:r>
              <a:rPr b="0" i="1" lang="en-GB" sz="1100" u="none" cap="none" strike="noStrike">
                <a:solidFill>
                  <a:srgbClr val="1B2333"/>
                </a:solidFill>
                <a:latin typeface="Source Serif 4"/>
                <a:ea typeface="Source Serif 4"/>
                <a:cs typeface="Source Serif 4"/>
                <a:sym typeface="Source Serif 4"/>
              </a:rPr>
              <a:t>“JEPA’s prediction task admits failure modes, such as </a:t>
            </a:r>
            <a:r>
              <a:rPr b="1" i="1" lang="en-GB" sz="1100" u="sng" cap="none" strike="noStrike">
                <a:solidFill>
                  <a:srgbClr val="1B2333"/>
                </a:solidFill>
                <a:latin typeface="Source Serif 4"/>
                <a:ea typeface="Source Serif 4"/>
                <a:cs typeface="Source Serif 4"/>
                <a:sym typeface="Source Serif 4"/>
              </a:rPr>
              <a:t>representation collapse</a:t>
            </a:r>
            <a:r>
              <a:rPr b="0" i="1" lang="en-GB" sz="1100" u="none" cap="none" strike="noStrike">
                <a:solidFill>
                  <a:srgbClr val="1B2333"/>
                </a:solidFill>
                <a:latin typeface="Source Serif 4"/>
                <a:ea typeface="Source Serif 4"/>
                <a:cs typeface="Source Serif 4"/>
                <a:sym typeface="Source Serif 4"/>
              </a:rPr>
              <a:t>”</a:t>
            </a:r>
            <a:endParaRPr b="0" i="0" sz="1100" u="none" cap="none" strike="noStrike">
              <a:solidFill>
                <a:schemeClr val="dk1"/>
              </a:solidFill>
              <a:latin typeface="Inter"/>
              <a:ea typeface="Inter"/>
              <a:cs typeface="Inter"/>
              <a:sym typeface="Inter"/>
            </a:endParaRPr>
          </a:p>
        </p:txBody>
      </p:sp>
      <p:sp>
        <p:nvSpPr>
          <p:cNvPr id="150" name="Google Shape;150;p21"/>
          <p:cNvSpPr/>
          <p:nvPr/>
        </p:nvSpPr>
        <p:spPr>
          <a:xfrm>
            <a:off x="6286500" y="2245040"/>
            <a:ext cx="23937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280"/>
              </a:buClr>
              <a:buSzPts val="900"/>
              <a:buFont typeface="Inter"/>
              <a:buNone/>
            </a:pPr>
            <a:r>
              <a:rPr b="0" i="0" lang="en-GB" sz="900" u="none" cap="none" strike="noStrike">
                <a:solidFill>
                  <a:srgbClr val="6B7280"/>
                </a:solidFill>
                <a:latin typeface="Inter"/>
                <a:ea typeface="Inter"/>
                <a:cs typeface="Inter"/>
                <a:sym typeface="Inter"/>
              </a:rPr>
              <a:t>Balestriero &amp; LeCun (an I-JEPA author), LeJEPA, 2025</a:t>
            </a:r>
            <a:endParaRPr b="0" i="0" sz="900" u="none" cap="none" strike="noStrike">
              <a:solidFill>
                <a:schemeClr val="dk1"/>
              </a:solidFill>
              <a:latin typeface="Inter"/>
              <a:ea typeface="Inter"/>
              <a:cs typeface="Inter"/>
              <a:sym typeface="Inter"/>
            </a:endParaRPr>
          </a:p>
        </p:txBody>
      </p:sp>
      <p:sp>
        <p:nvSpPr>
          <p:cNvPr id="151" name="Google Shape;151;p21"/>
          <p:cNvSpPr/>
          <p:nvPr/>
        </p:nvSpPr>
        <p:spPr>
          <a:xfrm>
            <a:off x="6286500" y="2755520"/>
            <a:ext cx="2393700" cy="5589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B2333"/>
              </a:buClr>
              <a:buSzPts val="1100"/>
              <a:buFont typeface="Source Serif 4"/>
              <a:buNone/>
            </a:pPr>
            <a:r>
              <a:rPr b="0" i="1" lang="en-GB" sz="1100" u="none" cap="none" strike="noStrike">
                <a:solidFill>
                  <a:srgbClr val="1B2333"/>
                </a:solidFill>
                <a:latin typeface="Source Serif 4"/>
                <a:ea typeface="Source Serif 4"/>
                <a:cs typeface="Source Serif 4"/>
                <a:sym typeface="Source Serif 4"/>
              </a:rPr>
              <a:t>“the inefficacy of Exponential Moving Average (EMA) from I-JEPA in preventing entire collapse”</a:t>
            </a:r>
            <a:endParaRPr b="0" i="0" sz="1100" u="none" cap="none" strike="noStrike">
              <a:solidFill>
                <a:schemeClr val="dk1"/>
              </a:solidFill>
              <a:latin typeface="Inter"/>
              <a:ea typeface="Inter"/>
              <a:cs typeface="Inter"/>
              <a:sym typeface="Inter"/>
            </a:endParaRPr>
          </a:p>
        </p:txBody>
      </p:sp>
      <p:sp>
        <p:nvSpPr>
          <p:cNvPr id="152" name="Google Shape;152;p21"/>
          <p:cNvSpPr/>
          <p:nvPr/>
        </p:nvSpPr>
        <p:spPr>
          <a:xfrm>
            <a:off x="6286500" y="3459020"/>
            <a:ext cx="2393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280"/>
              </a:buClr>
              <a:buSzPts val="900"/>
              <a:buFont typeface="Inter"/>
              <a:buNone/>
            </a:pPr>
            <a:r>
              <a:rPr b="0" i="0" lang="en-GB" sz="900" u="none" cap="none" strike="noStrike">
                <a:solidFill>
                  <a:srgbClr val="6B7280"/>
                </a:solidFill>
                <a:latin typeface="Inter"/>
                <a:ea typeface="Inter"/>
                <a:cs typeface="Inter"/>
                <a:sym typeface="Inter"/>
              </a:rPr>
              <a:t>C-JEPA paper, NeurIPS 2024 (spotlight) </a:t>
            </a:r>
            <a:endParaRPr b="0" i="0" sz="900" u="none" cap="none" strike="noStrike">
              <a:solidFill>
                <a:schemeClr val="dk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57" name="Shape 157"/>
        <p:cNvGrpSpPr/>
        <p:nvPr/>
      </p:nvGrpSpPr>
      <p:grpSpPr>
        <a:xfrm>
          <a:off x="0" y="0"/>
          <a:ext cx="0" cy="0"/>
          <a:chOff x="0" y="0"/>
          <a:chExt cx="0" cy="0"/>
        </a:xfrm>
      </p:grpSpPr>
      <p:sp>
        <p:nvSpPr>
          <p:cNvPr id="158" name="Google Shape;158;p22"/>
          <p:cNvSpPr/>
          <p:nvPr/>
        </p:nvSpPr>
        <p:spPr>
          <a:xfrm>
            <a:off x="533400" y="419100"/>
            <a:ext cx="8319516"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45BF"/>
              </a:buClr>
              <a:buSzPts val="900"/>
              <a:buFont typeface="Inter"/>
              <a:buNone/>
            </a:pPr>
            <a:r>
              <a:rPr b="1" i="0" lang="en-GB" spc="100" sz="900" u="none" cap="none" strike="noStrike">
                <a:solidFill>
                  <a:srgbClr val="6A45BF"/>
                </a:solidFill>
                <a:latin typeface="Inter"/>
                <a:ea typeface="Inter"/>
                <a:cs typeface="Inter"/>
                <a:sym typeface="Inter"/>
              </a:rPr>
              <a:t>A CRITICAL READING · 2 OF 3</a:t>
            </a:r>
            <a:endParaRPr b="0" i="0" sz="900" u="none" cap="none" strike="noStrike">
              <a:solidFill>
                <a:schemeClr val="dk1"/>
              </a:solidFill>
              <a:latin typeface="Inter"/>
              <a:ea typeface="Inter"/>
              <a:cs typeface="Inter"/>
              <a:sym typeface="Inter"/>
            </a:endParaRPr>
          </a:p>
        </p:txBody>
      </p:sp>
      <p:sp>
        <p:nvSpPr>
          <p:cNvPr id="159" name="Google Shape;159;p22"/>
          <p:cNvSpPr txBox="1"/>
          <p:nvPr>
            <p:ph type="title"/>
          </p:nvPr>
        </p:nvSpPr>
        <p:spPr>
          <a:xfrm>
            <a:off x="533400" y="636240"/>
            <a:ext cx="8319516" cy="333375"/>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333"/>
              </a:buClr>
              <a:buSzPts val="2300"/>
              <a:buFont typeface="Source Serif 4"/>
              <a:buNone/>
            </a:pPr>
            <a:r>
              <a:rPr b="1" i="0" lang="en-GB" sz="2300">
                <a:solidFill>
                  <a:srgbClr val="1B2333"/>
                </a:solidFill>
                <a:latin typeface="Source Serif 4"/>
                <a:ea typeface="Source Serif 4"/>
                <a:cs typeface="Source Serif 4"/>
                <a:sym typeface="Source Serif 4"/>
              </a:rPr>
              <a:t>Accuracy depends on hand-set mask choices</a:t>
            </a:r>
            <a:endParaRPr sz="2300"/>
          </a:p>
        </p:txBody>
      </p:sp>
      <p:sp>
        <p:nvSpPr>
          <p:cNvPr id="160" name="Google Shape;160;p22"/>
          <p:cNvSpPr/>
          <p:nvPr/>
        </p:nvSpPr>
        <p:spPr>
          <a:xfrm>
            <a:off x="533400" y="1141065"/>
            <a:ext cx="5486400" cy="3086100"/>
          </a:xfrm>
          <a:prstGeom prst="roundRect">
            <a:avLst>
              <a:gd fmla="val 2469"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Three line charts on one 0 to 60 scale: accuracy against target block size, context block size and number of target blocks; each peaks at 54.2 at the paper's chosen setting and falls to 19.2, 31.2 and 9.0 at the extremes" id="161" name="Google Shape;161;p22"/>
          <p:cNvPicPr preferRelativeResize="0"/>
          <p:nvPr/>
        </p:nvPicPr>
        <p:blipFill rotWithShape="1">
          <a:blip r:embed="rId3">
            <a:alphaModFix/>
          </a:blip>
          <a:srcRect b="0" l="-136" r="-136" t="0"/>
          <a:stretch/>
        </p:blipFill>
        <p:spPr>
          <a:xfrm>
            <a:off x="542925" y="1150590"/>
            <a:ext cx="5467350" cy="3067050"/>
          </a:xfrm>
          <a:prstGeom prst="roundRect">
            <a:avLst>
              <a:gd fmla="val 2174" name="adj"/>
            </a:avLst>
          </a:prstGeom>
          <a:noFill/>
          <a:ln>
            <a:noFill/>
          </a:ln>
        </p:spPr>
      </p:pic>
      <p:sp>
        <p:nvSpPr>
          <p:cNvPr id="162" name="Google Shape;162;p22"/>
          <p:cNvSpPr/>
          <p:nvPr/>
        </p:nvSpPr>
        <p:spPr>
          <a:xfrm>
            <a:off x="538163" y="1145828"/>
            <a:ext cx="5476875" cy="3076575"/>
          </a:xfrm>
          <a:prstGeom prst="roundRect">
            <a:avLst>
              <a:gd fmla="val 232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 name="Google Shape;163;p22"/>
          <p:cNvSpPr/>
          <p:nvPr/>
        </p:nvSpPr>
        <p:spPr>
          <a:xfrm>
            <a:off x="6286500" y="1179165"/>
            <a:ext cx="2393823"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45BF"/>
              </a:buClr>
              <a:buSzPts val="900"/>
              <a:buFont typeface="Inter"/>
              <a:buNone/>
            </a:pPr>
            <a:r>
              <a:rPr b="1" i="0" lang="en-GB" sz="900" u="none" cap="none" strike="noStrike">
                <a:solidFill>
                  <a:srgbClr val="6A45BF"/>
                </a:solidFill>
                <a:latin typeface="Inter"/>
                <a:ea typeface="Inter"/>
                <a:cs typeface="Inter"/>
                <a:sym typeface="Inter"/>
              </a:rPr>
              <a:t>From reviews and follow-up papers</a:t>
            </a:r>
            <a:endParaRPr b="0" i="0" sz="900" u="none" cap="none" strike="noStrike">
              <a:solidFill>
                <a:schemeClr val="dk1"/>
              </a:solidFill>
              <a:latin typeface="Inter"/>
              <a:ea typeface="Inter"/>
              <a:cs typeface="Inter"/>
              <a:sym typeface="Inter"/>
            </a:endParaRPr>
          </a:p>
        </p:txBody>
      </p:sp>
      <p:sp>
        <p:nvSpPr>
          <p:cNvPr id="164" name="Google Shape;164;p22"/>
          <p:cNvSpPr/>
          <p:nvPr/>
        </p:nvSpPr>
        <p:spPr>
          <a:xfrm>
            <a:off x="6286500" y="1529656"/>
            <a:ext cx="2393823" cy="55899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B2333"/>
              </a:buClr>
              <a:buSzPts val="1100"/>
              <a:buFont typeface="Source Serif 4"/>
              <a:buNone/>
            </a:pPr>
            <a:r>
              <a:rPr b="0" i="1" lang="en-GB" sz="1100" u="none" cap="none" strike="noStrike">
                <a:solidFill>
                  <a:srgbClr val="1B2333"/>
                </a:solidFill>
                <a:latin typeface="Source Serif 4"/>
                <a:ea typeface="Source Serif 4"/>
                <a:cs typeface="Source Serif 4"/>
                <a:sym typeface="Source Serif 4"/>
              </a:rPr>
              <a:t>“A key component that determines the success of [V-JEPA] is multiblock design.”</a:t>
            </a:r>
            <a:endParaRPr b="0" i="0" sz="1100" u="none" cap="none" strike="noStrike">
              <a:solidFill>
                <a:schemeClr val="dk1"/>
              </a:solidFill>
              <a:latin typeface="Inter"/>
              <a:ea typeface="Inter"/>
              <a:cs typeface="Inter"/>
              <a:sym typeface="Inter"/>
            </a:endParaRPr>
          </a:p>
        </p:txBody>
      </p:sp>
      <p:sp>
        <p:nvSpPr>
          <p:cNvPr id="165" name="Google Shape;165;p22"/>
          <p:cNvSpPr/>
          <p:nvPr/>
        </p:nvSpPr>
        <p:spPr>
          <a:xfrm>
            <a:off x="6286500" y="2225776"/>
            <a:ext cx="2393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280"/>
              </a:buClr>
              <a:buSzPts val="900"/>
              <a:buFont typeface="Inter"/>
              <a:buNone/>
            </a:pPr>
            <a:r>
              <a:rPr b="0" i="0" lang="en-GB" sz="900" u="none" cap="none" strike="noStrike">
                <a:solidFill>
                  <a:srgbClr val="6B7280"/>
                </a:solidFill>
                <a:latin typeface="Inter"/>
                <a:ea typeface="Inter"/>
                <a:cs typeface="Inter"/>
                <a:sym typeface="Inter"/>
              </a:rPr>
              <a:t>ICLR 2024 reviewer of V-JEPA</a:t>
            </a:r>
            <a:endParaRPr b="0" i="0" sz="900" u="none" cap="none" strike="noStrike">
              <a:solidFill>
                <a:schemeClr val="dk1"/>
              </a:solidFill>
              <a:latin typeface="Inter"/>
              <a:ea typeface="Inter"/>
              <a:cs typeface="Inter"/>
              <a:sym typeface="Inter"/>
            </a:endParaRPr>
          </a:p>
        </p:txBody>
      </p:sp>
      <p:sp>
        <p:nvSpPr>
          <p:cNvPr id="166" name="Google Shape;166;p22"/>
          <p:cNvSpPr/>
          <p:nvPr/>
        </p:nvSpPr>
        <p:spPr>
          <a:xfrm>
            <a:off x="6286500" y="2576266"/>
            <a:ext cx="2393700" cy="5589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B2333"/>
              </a:buClr>
              <a:buSzPts val="1100"/>
              <a:buFont typeface="Source Serif 4"/>
              <a:buNone/>
            </a:pPr>
            <a:r>
              <a:rPr b="0" i="1" lang="en-GB" sz="1100" u="none" cap="none" strike="noStrike">
                <a:solidFill>
                  <a:srgbClr val="1B2333"/>
                </a:solidFill>
                <a:latin typeface="Source Serif 4"/>
                <a:ea typeface="Source Serif 4"/>
                <a:cs typeface="Source Serif 4"/>
                <a:sym typeface="Source Serif 4"/>
              </a:rPr>
              <a:t>“a delicate balance of hyperparameters. As a result, today’s JEPA training is brittle”</a:t>
            </a:r>
            <a:endParaRPr b="0" i="0" sz="1100" u="none" cap="none" strike="noStrike">
              <a:solidFill>
                <a:schemeClr val="dk1"/>
              </a:solidFill>
              <a:latin typeface="Inter"/>
              <a:ea typeface="Inter"/>
              <a:cs typeface="Inter"/>
              <a:sym typeface="Inter"/>
            </a:endParaRPr>
          </a:p>
        </p:txBody>
      </p:sp>
      <p:sp>
        <p:nvSpPr>
          <p:cNvPr id="167" name="Google Shape;167;p22"/>
          <p:cNvSpPr/>
          <p:nvPr/>
        </p:nvSpPr>
        <p:spPr>
          <a:xfrm>
            <a:off x="6286500" y="3301904"/>
            <a:ext cx="23937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280"/>
              </a:buClr>
              <a:buSzPts val="900"/>
              <a:buFont typeface="Inter"/>
              <a:buNone/>
            </a:pPr>
            <a:r>
              <a:rPr b="0" i="0" lang="en-GB" sz="900" u="none" cap="none" strike="noStrike">
                <a:solidFill>
                  <a:srgbClr val="6B7280"/>
                </a:solidFill>
                <a:latin typeface="Inter"/>
                <a:ea typeface="Inter"/>
                <a:cs typeface="Inter"/>
                <a:sym typeface="Inter"/>
              </a:rPr>
              <a:t>Balestriero &amp; LeCun (an I-JEPA author), LeJEPA, 2025</a:t>
            </a:r>
            <a:endParaRPr b="0" i="0" sz="900" u="none" cap="none" strike="noStrike">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72" name="Shape 172"/>
        <p:cNvGrpSpPr/>
        <p:nvPr/>
      </p:nvGrpSpPr>
      <p:grpSpPr>
        <a:xfrm>
          <a:off x="0" y="0"/>
          <a:ext cx="0" cy="0"/>
          <a:chOff x="0" y="0"/>
          <a:chExt cx="0" cy="0"/>
        </a:xfrm>
      </p:grpSpPr>
      <p:sp>
        <p:nvSpPr>
          <p:cNvPr id="173" name="Google Shape;173;p23"/>
          <p:cNvSpPr/>
          <p:nvPr/>
        </p:nvSpPr>
        <p:spPr>
          <a:xfrm>
            <a:off x="533400" y="419100"/>
            <a:ext cx="8319516"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45BF"/>
              </a:buClr>
              <a:buSzPts val="900"/>
              <a:buFont typeface="Inter"/>
              <a:buNone/>
            </a:pPr>
            <a:r>
              <a:rPr b="1" i="0" lang="en-GB" spc="100" sz="900" u="none" cap="none" strike="noStrike">
                <a:solidFill>
                  <a:srgbClr val="6A45BF"/>
                </a:solidFill>
                <a:latin typeface="Inter"/>
                <a:ea typeface="Inter"/>
                <a:cs typeface="Inter"/>
                <a:sym typeface="Inter"/>
              </a:rPr>
              <a:t>A CRITICAL READING · 3 OF 3</a:t>
            </a:r>
            <a:endParaRPr b="0" i="0" sz="900" u="none" cap="none" strike="noStrike">
              <a:solidFill>
                <a:schemeClr val="dk1"/>
              </a:solidFill>
              <a:latin typeface="Inter"/>
              <a:ea typeface="Inter"/>
              <a:cs typeface="Inter"/>
              <a:sym typeface="Inter"/>
            </a:endParaRPr>
          </a:p>
        </p:txBody>
      </p:sp>
      <p:sp>
        <p:nvSpPr>
          <p:cNvPr id="174" name="Google Shape;174;p23"/>
          <p:cNvSpPr txBox="1"/>
          <p:nvPr>
            <p:ph type="title"/>
          </p:nvPr>
        </p:nvSpPr>
        <p:spPr>
          <a:xfrm>
            <a:off x="533400" y="636240"/>
            <a:ext cx="8319516" cy="333375"/>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333"/>
              </a:buClr>
              <a:buSzPts val="2300"/>
              <a:buFont typeface="Source Serif 4"/>
              <a:buNone/>
            </a:pPr>
            <a:r>
              <a:rPr b="1" i="0" lang="en-GB" sz="2300">
                <a:solidFill>
                  <a:srgbClr val="1B2333"/>
                </a:solidFill>
                <a:latin typeface="Source Serif 4"/>
                <a:ea typeface="Source Serif 4"/>
                <a:cs typeface="Source Serif 4"/>
                <a:sym typeface="Source Serif 4"/>
              </a:rPr>
              <a:t>The gains depend on how you evaluate</a:t>
            </a:r>
            <a:endParaRPr sz="2300"/>
          </a:p>
        </p:txBody>
      </p:sp>
      <p:sp>
        <p:nvSpPr>
          <p:cNvPr id="175" name="Google Shape;175;p23"/>
          <p:cNvSpPr/>
          <p:nvPr/>
        </p:nvSpPr>
        <p:spPr>
          <a:xfrm>
            <a:off x="533400" y="1141065"/>
            <a:ext cx="5486400" cy="3086100"/>
          </a:xfrm>
          <a:prstGeom prst="roundRect">
            <a:avLst>
              <a:gd fmla="val 2469"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Dot plot comparing I-JEPA with the best other method in each table on eight benchmarks: ahead on ImageNet linear probe (+0.1) and 1% labels (+1.6), level on Clevr depth, behind on fine-tuning (−0.7), CIFAR-100 (−0.8), Places205 (−2.0), iNaturalist (−9.7) and Clevr counting (−3.8)" id="176" name="Google Shape;176;p23"/>
          <p:cNvPicPr preferRelativeResize="0"/>
          <p:nvPr/>
        </p:nvPicPr>
        <p:blipFill rotWithShape="1">
          <a:blip r:embed="rId3">
            <a:alphaModFix/>
          </a:blip>
          <a:srcRect b="0" l="-136" r="-136" t="0"/>
          <a:stretch/>
        </p:blipFill>
        <p:spPr>
          <a:xfrm>
            <a:off x="542925" y="1150590"/>
            <a:ext cx="5467350" cy="3067050"/>
          </a:xfrm>
          <a:prstGeom prst="roundRect">
            <a:avLst>
              <a:gd fmla="val 2174" name="adj"/>
            </a:avLst>
          </a:prstGeom>
          <a:noFill/>
          <a:ln>
            <a:noFill/>
          </a:ln>
        </p:spPr>
      </p:pic>
      <p:sp>
        <p:nvSpPr>
          <p:cNvPr id="177" name="Google Shape;177;p23"/>
          <p:cNvSpPr/>
          <p:nvPr/>
        </p:nvSpPr>
        <p:spPr>
          <a:xfrm>
            <a:off x="538163" y="1145828"/>
            <a:ext cx="5476875" cy="3076575"/>
          </a:xfrm>
          <a:prstGeom prst="roundRect">
            <a:avLst>
              <a:gd fmla="val 232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8" name="Google Shape;178;p23"/>
          <p:cNvSpPr/>
          <p:nvPr/>
        </p:nvSpPr>
        <p:spPr>
          <a:xfrm>
            <a:off x="6286500" y="1179165"/>
            <a:ext cx="2393823"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45BF"/>
              </a:buClr>
              <a:buSzPts val="900"/>
              <a:buFont typeface="Inter"/>
              <a:buNone/>
            </a:pPr>
            <a:r>
              <a:rPr b="1" i="0" lang="en-GB" sz="900" u="none" cap="none" strike="noStrike">
                <a:solidFill>
                  <a:srgbClr val="6A45BF"/>
                </a:solidFill>
                <a:latin typeface="Inter"/>
                <a:ea typeface="Inter"/>
                <a:cs typeface="Inter"/>
                <a:sym typeface="Inter"/>
              </a:rPr>
              <a:t>From reviews and follow-up papers</a:t>
            </a:r>
            <a:endParaRPr b="0" i="0" sz="900" u="none" cap="none" strike="noStrike">
              <a:solidFill>
                <a:schemeClr val="dk1"/>
              </a:solidFill>
              <a:latin typeface="Inter"/>
              <a:ea typeface="Inter"/>
              <a:cs typeface="Inter"/>
              <a:sym typeface="Inter"/>
            </a:endParaRPr>
          </a:p>
        </p:txBody>
      </p:sp>
      <p:sp>
        <p:nvSpPr>
          <p:cNvPr id="179" name="Google Shape;179;p23"/>
          <p:cNvSpPr/>
          <p:nvPr/>
        </p:nvSpPr>
        <p:spPr>
          <a:xfrm>
            <a:off x="6286500" y="1529656"/>
            <a:ext cx="2393823" cy="558998"/>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B2333"/>
              </a:buClr>
              <a:buSzPts val="1100"/>
              <a:buFont typeface="Source Serif 4"/>
              <a:buNone/>
            </a:pPr>
            <a:r>
              <a:rPr b="0" i="1" lang="en-GB" sz="1100" u="none" cap="none" strike="noStrike">
                <a:solidFill>
                  <a:srgbClr val="1B2333"/>
                </a:solidFill>
                <a:latin typeface="Source Serif 4"/>
                <a:ea typeface="Source Serif 4"/>
                <a:cs typeface="Source Serif 4"/>
                <a:sym typeface="Source Serif 4"/>
              </a:rPr>
              <a:t>“the evaluation is focused on linear probing, which … is usually inferior to fine-tuning”</a:t>
            </a:r>
            <a:endParaRPr b="0" i="0" sz="1100" u="none" cap="none" strike="noStrike">
              <a:solidFill>
                <a:schemeClr val="dk1"/>
              </a:solidFill>
              <a:latin typeface="Inter"/>
              <a:ea typeface="Inter"/>
              <a:cs typeface="Inter"/>
              <a:sym typeface="Inter"/>
            </a:endParaRPr>
          </a:p>
        </p:txBody>
      </p:sp>
      <p:sp>
        <p:nvSpPr>
          <p:cNvPr id="180" name="Google Shape;180;p23"/>
          <p:cNvSpPr/>
          <p:nvPr/>
        </p:nvSpPr>
        <p:spPr>
          <a:xfrm>
            <a:off x="6286500" y="2225776"/>
            <a:ext cx="23937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280"/>
              </a:buClr>
              <a:buSzPts val="900"/>
              <a:buFont typeface="Inter"/>
              <a:buNone/>
            </a:pPr>
            <a:r>
              <a:rPr b="0" i="0" lang="en-GB" sz="900" u="none" cap="none" strike="noStrike">
                <a:solidFill>
                  <a:srgbClr val="6B7280"/>
                </a:solidFill>
                <a:latin typeface="Inter"/>
                <a:ea typeface="Inter"/>
                <a:cs typeface="Inter"/>
                <a:sym typeface="Inter"/>
              </a:rPr>
              <a:t>ICLR 2024 meta-review of V-JEPA</a:t>
            </a:r>
            <a:endParaRPr b="0" i="0" sz="900" u="none" cap="none" strike="noStrike">
              <a:solidFill>
                <a:schemeClr val="dk1"/>
              </a:solidFill>
              <a:latin typeface="Inter"/>
              <a:ea typeface="Inter"/>
              <a:cs typeface="Inter"/>
              <a:sym typeface="Inter"/>
            </a:endParaRPr>
          </a:p>
        </p:txBody>
      </p:sp>
      <p:sp>
        <p:nvSpPr>
          <p:cNvPr id="181" name="Google Shape;181;p23"/>
          <p:cNvSpPr/>
          <p:nvPr/>
        </p:nvSpPr>
        <p:spPr>
          <a:xfrm>
            <a:off x="6286500" y="2502471"/>
            <a:ext cx="2393700" cy="7389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B2333"/>
              </a:buClr>
              <a:buSzPts val="1100"/>
              <a:buFont typeface="Source Serif 4"/>
              <a:buNone/>
            </a:pPr>
            <a:r>
              <a:rPr b="0" i="1" lang="en-GB" sz="1100" u="none" cap="none" strike="noStrike">
                <a:solidFill>
                  <a:srgbClr val="1B2333"/>
                </a:solidFill>
                <a:latin typeface="Source Serif 4"/>
                <a:ea typeface="Source Serif 4"/>
                <a:cs typeface="Source Serif 4"/>
                <a:sym typeface="Source Serif 4"/>
              </a:rPr>
              <a:t>“such models do not have the best performance when frozen, but even finetuning 1 or a small number of layers makes a large difference”</a:t>
            </a:r>
            <a:endParaRPr b="0" i="0" sz="1100" u="none" cap="none" strike="noStrike">
              <a:solidFill>
                <a:schemeClr val="dk1"/>
              </a:solidFill>
              <a:latin typeface="Inter"/>
              <a:ea typeface="Inter"/>
              <a:cs typeface="Inter"/>
              <a:sym typeface="Inter"/>
            </a:endParaRPr>
          </a:p>
        </p:txBody>
      </p:sp>
      <p:sp>
        <p:nvSpPr>
          <p:cNvPr id="182" name="Google Shape;182;p23"/>
          <p:cNvSpPr/>
          <p:nvPr/>
        </p:nvSpPr>
        <p:spPr>
          <a:xfrm>
            <a:off x="6286500" y="3452371"/>
            <a:ext cx="2393700" cy="339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B7280"/>
              </a:buClr>
              <a:buSzPts val="900"/>
              <a:buFont typeface="Inter"/>
              <a:buNone/>
            </a:pPr>
            <a:r>
              <a:rPr b="0" i="0" lang="en-GB" sz="900" u="none" cap="none" strike="noStrike">
                <a:solidFill>
                  <a:srgbClr val="6B7280"/>
                </a:solidFill>
                <a:latin typeface="Inter"/>
                <a:ea typeface="Inter"/>
                <a:cs typeface="Inter"/>
                <a:sym typeface="Inter"/>
              </a:rPr>
              <a:t>ICLR 2024 reviewer of V-JEPA, on MAE-style models</a:t>
            </a:r>
            <a:endParaRPr b="0" i="0" sz="900" u="none" cap="none" strike="noStrike">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87" name="Shape 187"/>
        <p:cNvGrpSpPr/>
        <p:nvPr/>
      </p:nvGrpSpPr>
      <p:grpSpPr>
        <a:xfrm>
          <a:off x="0" y="0"/>
          <a:ext cx="0" cy="0"/>
          <a:chOff x="0" y="0"/>
          <a:chExt cx="0" cy="0"/>
        </a:xfrm>
      </p:grpSpPr>
      <p:sp>
        <p:nvSpPr>
          <p:cNvPr id="188" name="Google Shape;188;p24"/>
          <p:cNvSpPr/>
          <p:nvPr/>
        </p:nvSpPr>
        <p:spPr>
          <a:xfrm>
            <a:off x="533400" y="419100"/>
            <a:ext cx="8319516"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45BF"/>
              </a:buClr>
              <a:buSzPts val="900"/>
              <a:buFont typeface="Inter"/>
              <a:buNone/>
            </a:pPr>
            <a:r>
              <a:rPr b="1" i="0" lang="en-GB" spc="100" sz="900" u="none" cap="none" strike="noStrike">
                <a:solidFill>
                  <a:srgbClr val="6A45BF"/>
                </a:solidFill>
                <a:latin typeface="Inter"/>
                <a:ea typeface="Inter"/>
                <a:cs typeface="Inter"/>
                <a:sym typeface="Inter"/>
              </a:rPr>
              <a:t>I-JEPA, ANIMATED · OVERVIEW</a:t>
            </a:r>
            <a:endParaRPr b="0" i="0" sz="900" u="none" cap="none" strike="noStrike">
              <a:solidFill>
                <a:schemeClr val="dk1"/>
              </a:solidFill>
              <a:latin typeface="Inter"/>
              <a:ea typeface="Inter"/>
              <a:cs typeface="Inter"/>
              <a:sym typeface="Inter"/>
            </a:endParaRPr>
          </a:p>
        </p:txBody>
      </p:sp>
      <p:sp>
        <p:nvSpPr>
          <p:cNvPr id="189" name="Google Shape;189;p24"/>
          <p:cNvSpPr txBox="1"/>
          <p:nvPr>
            <p:ph type="title"/>
          </p:nvPr>
        </p:nvSpPr>
        <p:spPr>
          <a:xfrm>
            <a:off x="533400" y="636240"/>
            <a:ext cx="8319516" cy="333375"/>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333"/>
              </a:buClr>
              <a:buSzPts val="2300"/>
              <a:buFont typeface="Source Serif 4"/>
              <a:buNone/>
            </a:pPr>
            <a:r>
              <a:rPr b="1" i="0" lang="en-GB" sz="2300">
                <a:solidFill>
                  <a:srgbClr val="1B2333"/>
                </a:solidFill>
                <a:latin typeface="Source Serif 4"/>
                <a:ea typeface="Source Serif 4"/>
                <a:cs typeface="Source Serif 4"/>
                <a:sym typeface="Source Serif 4"/>
              </a:rPr>
              <a:t>All eight animations, played once</a:t>
            </a:r>
            <a:endParaRPr sz="2300"/>
          </a:p>
        </p:txBody>
      </p:sp>
      <p:sp>
        <p:nvSpPr>
          <p:cNvPr id="190" name="Google Shape;190;p24"/>
          <p:cNvSpPr/>
          <p:nvPr/>
        </p:nvSpPr>
        <p:spPr>
          <a:xfrm>
            <a:off x="533400" y="1141065"/>
            <a:ext cx="1933575" cy="1085850"/>
          </a:xfrm>
          <a:prstGeom prst="roundRect">
            <a:avLst>
              <a:gd fmla="val 4386"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Animation: three self-supervised architectures (Figure 2)" id="191" name="Google Shape;191;p24"/>
          <p:cNvPicPr preferRelativeResize="0"/>
          <p:nvPr/>
        </p:nvPicPr>
        <p:blipFill rotWithShape="1">
          <a:blip r:embed="rId3">
            <a:alphaModFix/>
          </a:blip>
          <a:srcRect b="0" l="-474" r="-474" t="0"/>
          <a:stretch/>
        </p:blipFill>
        <p:spPr>
          <a:xfrm>
            <a:off x="542925" y="1150590"/>
            <a:ext cx="1914525" cy="1066800"/>
          </a:xfrm>
          <a:prstGeom prst="roundRect">
            <a:avLst>
              <a:gd fmla="val 3571" name="adj"/>
            </a:avLst>
          </a:prstGeom>
          <a:noFill/>
          <a:ln>
            <a:noFill/>
          </a:ln>
        </p:spPr>
      </p:pic>
      <p:sp>
        <p:nvSpPr>
          <p:cNvPr id="192" name="Google Shape;192;p24"/>
          <p:cNvSpPr/>
          <p:nvPr/>
        </p:nvSpPr>
        <p:spPr>
          <a:xfrm>
            <a:off x="538163" y="1145828"/>
            <a:ext cx="1924050" cy="1076325"/>
          </a:xfrm>
          <a:prstGeom prst="roundRect">
            <a:avLst>
              <a:gd fmla="val 398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3" name="Google Shape;193;p24"/>
          <p:cNvSpPr/>
          <p:nvPr/>
        </p:nvSpPr>
        <p:spPr>
          <a:xfrm>
            <a:off x="533400" y="2265015"/>
            <a:ext cx="207987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333"/>
              </a:buClr>
              <a:buSzPts val="900"/>
              <a:buFont typeface="Inter"/>
              <a:buNone/>
            </a:pPr>
            <a:r>
              <a:rPr b="1" i="0" lang="en-GB" sz="900" u="none" cap="none" strike="noStrike">
                <a:solidFill>
                  <a:srgbClr val="1B2333"/>
                </a:solidFill>
                <a:latin typeface="Inter"/>
                <a:ea typeface="Inter"/>
                <a:cs typeface="Inter"/>
                <a:sym typeface="Inter"/>
              </a:rPr>
              <a:t>1 · Architectures</a:t>
            </a:r>
            <a:endParaRPr b="0" i="0" sz="900" u="none" cap="none" strike="noStrike">
              <a:solidFill>
                <a:schemeClr val="dk1"/>
              </a:solidFill>
              <a:latin typeface="Inter"/>
              <a:ea typeface="Inter"/>
              <a:cs typeface="Inter"/>
              <a:sym typeface="Inter"/>
            </a:endParaRPr>
          </a:p>
        </p:txBody>
      </p:sp>
      <p:sp>
        <p:nvSpPr>
          <p:cNvPr id="194" name="Google Shape;194;p24"/>
          <p:cNvSpPr/>
          <p:nvPr/>
        </p:nvSpPr>
        <p:spPr>
          <a:xfrm>
            <a:off x="2552700" y="1141065"/>
            <a:ext cx="1933575" cy="1085850"/>
          </a:xfrm>
          <a:prstGeom prst="roundRect">
            <a:avLst>
              <a:gd fmla="val 4386"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Animation: multi-block masking (Figure 4)" id="195" name="Google Shape;195;p24"/>
          <p:cNvPicPr preferRelativeResize="0"/>
          <p:nvPr/>
        </p:nvPicPr>
        <p:blipFill rotWithShape="1">
          <a:blip r:embed="rId4">
            <a:alphaModFix/>
          </a:blip>
          <a:srcRect b="0" l="-474" r="-474" t="0"/>
          <a:stretch/>
        </p:blipFill>
        <p:spPr>
          <a:xfrm>
            <a:off x="2562225" y="1150590"/>
            <a:ext cx="1914525" cy="1066800"/>
          </a:xfrm>
          <a:prstGeom prst="roundRect">
            <a:avLst>
              <a:gd fmla="val 3571" name="adj"/>
            </a:avLst>
          </a:prstGeom>
          <a:noFill/>
          <a:ln>
            <a:noFill/>
          </a:ln>
        </p:spPr>
      </p:pic>
      <p:sp>
        <p:nvSpPr>
          <p:cNvPr id="196" name="Google Shape;196;p24"/>
          <p:cNvSpPr/>
          <p:nvPr/>
        </p:nvSpPr>
        <p:spPr>
          <a:xfrm>
            <a:off x="2557463" y="1145828"/>
            <a:ext cx="1924050" cy="1076325"/>
          </a:xfrm>
          <a:prstGeom prst="roundRect">
            <a:avLst>
              <a:gd fmla="val 398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 name="Google Shape;197;p24"/>
          <p:cNvSpPr/>
          <p:nvPr/>
        </p:nvSpPr>
        <p:spPr>
          <a:xfrm>
            <a:off x="2552700" y="2265015"/>
            <a:ext cx="207987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333"/>
              </a:buClr>
              <a:buSzPts val="900"/>
              <a:buFont typeface="Inter"/>
              <a:buNone/>
            </a:pPr>
            <a:r>
              <a:rPr b="1" i="0" lang="en-GB" sz="900" u="none" cap="none" strike="noStrike">
                <a:solidFill>
                  <a:srgbClr val="1B2333"/>
                </a:solidFill>
                <a:latin typeface="Inter"/>
                <a:ea typeface="Inter"/>
                <a:cs typeface="Inter"/>
                <a:sym typeface="Inter"/>
              </a:rPr>
              <a:t>2 · Masking</a:t>
            </a:r>
            <a:endParaRPr b="0" i="0" sz="900" u="none" cap="none" strike="noStrike">
              <a:solidFill>
                <a:schemeClr val="dk1"/>
              </a:solidFill>
              <a:latin typeface="Inter"/>
              <a:ea typeface="Inter"/>
              <a:cs typeface="Inter"/>
              <a:sym typeface="Inter"/>
            </a:endParaRPr>
          </a:p>
        </p:txBody>
      </p:sp>
      <p:sp>
        <p:nvSpPr>
          <p:cNvPr id="198" name="Google Shape;198;p24"/>
          <p:cNvSpPr/>
          <p:nvPr/>
        </p:nvSpPr>
        <p:spPr>
          <a:xfrm>
            <a:off x="4572000" y="1141065"/>
            <a:ext cx="1933575" cy="1085850"/>
          </a:xfrm>
          <a:prstGeom prst="roundRect">
            <a:avLst>
              <a:gd fmla="val 4386"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Animation: one training step (Figure 3)" id="199" name="Google Shape;199;p24"/>
          <p:cNvPicPr preferRelativeResize="0"/>
          <p:nvPr/>
        </p:nvPicPr>
        <p:blipFill rotWithShape="1">
          <a:blip r:embed="rId5">
            <a:alphaModFix/>
          </a:blip>
          <a:srcRect b="0" l="-474" r="-474" t="0"/>
          <a:stretch/>
        </p:blipFill>
        <p:spPr>
          <a:xfrm>
            <a:off x="4581525" y="1150590"/>
            <a:ext cx="1914525" cy="1066800"/>
          </a:xfrm>
          <a:prstGeom prst="roundRect">
            <a:avLst>
              <a:gd fmla="val 3571" name="adj"/>
            </a:avLst>
          </a:prstGeom>
          <a:noFill/>
          <a:ln>
            <a:noFill/>
          </a:ln>
        </p:spPr>
      </p:pic>
      <p:sp>
        <p:nvSpPr>
          <p:cNvPr id="200" name="Google Shape;200;p24"/>
          <p:cNvSpPr/>
          <p:nvPr/>
        </p:nvSpPr>
        <p:spPr>
          <a:xfrm>
            <a:off x="4576763" y="1145828"/>
            <a:ext cx="1924050" cy="1076325"/>
          </a:xfrm>
          <a:prstGeom prst="roundRect">
            <a:avLst>
              <a:gd fmla="val 398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1" name="Google Shape;201;p24"/>
          <p:cNvSpPr/>
          <p:nvPr/>
        </p:nvSpPr>
        <p:spPr>
          <a:xfrm>
            <a:off x="4572000" y="2265015"/>
            <a:ext cx="207987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333"/>
              </a:buClr>
              <a:buSzPts val="900"/>
              <a:buFont typeface="Inter"/>
              <a:buNone/>
            </a:pPr>
            <a:r>
              <a:rPr b="1" i="0" lang="en-GB" sz="900" u="none" cap="none" strike="noStrike">
                <a:solidFill>
                  <a:srgbClr val="1B2333"/>
                </a:solidFill>
                <a:latin typeface="Inter"/>
                <a:ea typeface="Inter"/>
                <a:cs typeface="Inter"/>
                <a:sym typeface="Inter"/>
              </a:rPr>
              <a:t>3 · Training step</a:t>
            </a:r>
            <a:endParaRPr b="0" i="0" sz="900" u="none" cap="none" strike="noStrike">
              <a:solidFill>
                <a:schemeClr val="dk1"/>
              </a:solidFill>
              <a:latin typeface="Inter"/>
              <a:ea typeface="Inter"/>
              <a:cs typeface="Inter"/>
              <a:sym typeface="Inter"/>
            </a:endParaRPr>
          </a:p>
        </p:txBody>
      </p:sp>
      <p:sp>
        <p:nvSpPr>
          <p:cNvPr id="202" name="Google Shape;202;p24"/>
          <p:cNvSpPr/>
          <p:nvPr/>
        </p:nvSpPr>
        <p:spPr>
          <a:xfrm>
            <a:off x="6591300" y="1141065"/>
            <a:ext cx="1933575" cy="1085850"/>
          </a:xfrm>
          <a:prstGeom prst="roundRect">
            <a:avLst>
              <a:gd fmla="val 4386"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Animation: inference with the frozen target encoder" id="203" name="Google Shape;203;p24"/>
          <p:cNvPicPr preferRelativeResize="0"/>
          <p:nvPr/>
        </p:nvPicPr>
        <p:blipFill rotWithShape="1">
          <a:blip r:embed="rId6">
            <a:alphaModFix/>
          </a:blip>
          <a:srcRect b="0" l="-474" r="-474" t="0"/>
          <a:stretch/>
        </p:blipFill>
        <p:spPr>
          <a:xfrm>
            <a:off x="6600825" y="1150590"/>
            <a:ext cx="1914525" cy="1066800"/>
          </a:xfrm>
          <a:prstGeom prst="roundRect">
            <a:avLst>
              <a:gd fmla="val 3571" name="adj"/>
            </a:avLst>
          </a:prstGeom>
          <a:noFill/>
          <a:ln>
            <a:noFill/>
          </a:ln>
        </p:spPr>
      </p:pic>
      <p:sp>
        <p:nvSpPr>
          <p:cNvPr id="204" name="Google Shape;204;p24"/>
          <p:cNvSpPr/>
          <p:nvPr/>
        </p:nvSpPr>
        <p:spPr>
          <a:xfrm>
            <a:off x="6596063" y="1145828"/>
            <a:ext cx="1924050" cy="1076325"/>
          </a:xfrm>
          <a:prstGeom prst="roundRect">
            <a:avLst>
              <a:gd fmla="val 398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5" name="Google Shape;205;p24"/>
          <p:cNvSpPr/>
          <p:nvPr/>
        </p:nvSpPr>
        <p:spPr>
          <a:xfrm>
            <a:off x="6591300" y="2265015"/>
            <a:ext cx="207987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333"/>
              </a:buClr>
              <a:buSzPts val="900"/>
              <a:buFont typeface="Inter"/>
              <a:buNone/>
            </a:pPr>
            <a:r>
              <a:rPr b="1" i="0" lang="en-GB" sz="900" u="none" cap="none" strike="noStrike">
                <a:solidFill>
                  <a:srgbClr val="1B2333"/>
                </a:solidFill>
                <a:latin typeface="Inter"/>
                <a:ea typeface="Inter"/>
                <a:cs typeface="Inter"/>
                <a:sym typeface="Inter"/>
              </a:rPr>
              <a:t>4 · Inference</a:t>
            </a:r>
            <a:endParaRPr b="0" i="0" sz="900" u="none" cap="none" strike="noStrike">
              <a:solidFill>
                <a:schemeClr val="dk1"/>
              </a:solidFill>
              <a:latin typeface="Inter"/>
              <a:ea typeface="Inter"/>
              <a:cs typeface="Inter"/>
              <a:sym typeface="Inter"/>
            </a:endParaRPr>
          </a:p>
        </p:txBody>
      </p:sp>
      <p:sp>
        <p:nvSpPr>
          <p:cNvPr id="206" name="Google Shape;206;p24"/>
          <p:cNvSpPr/>
          <p:nvPr/>
        </p:nvSpPr>
        <p:spPr>
          <a:xfrm>
            <a:off x="533400" y="2425006"/>
            <a:ext cx="1933575" cy="1085850"/>
          </a:xfrm>
          <a:prstGeom prst="roundRect">
            <a:avLst>
              <a:gd fmla="val 4386"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Animated charts: accuracy and compute (Figure 1, Table 1)" id="207" name="Google Shape;207;p24"/>
          <p:cNvPicPr preferRelativeResize="0"/>
          <p:nvPr/>
        </p:nvPicPr>
        <p:blipFill rotWithShape="1">
          <a:blip r:embed="rId7">
            <a:alphaModFix/>
          </a:blip>
          <a:srcRect b="0" l="-474" r="-474" t="0"/>
          <a:stretch/>
        </p:blipFill>
        <p:spPr>
          <a:xfrm>
            <a:off x="542925" y="2434531"/>
            <a:ext cx="1914525" cy="1066800"/>
          </a:xfrm>
          <a:prstGeom prst="roundRect">
            <a:avLst>
              <a:gd fmla="val 3571" name="adj"/>
            </a:avLst>
          </a:prstGeom>
          <a:noFill/>
          <a:ln>
            <a:noFill/>
          </a:ln>
        </p:spPr>
      </p:pic>
      <p:sp>
        <p:nvSpPr>
          <p:cNvPr id="208" name="Google Shape;208;p24"/>
          <p:cNvSpPr/>
          <p:nvPr/>
        </p:nvSpPr>
        <p:spPr>
          <a:xfrm>
            <a:off x="538163" y="2429768"/>
            <a:ext cx="1924050" cy="1076325"/>
          </a:xfrm>
          <a:prstGeom prst="roundRect">
            <a:avLst>
              <a:gd fmla="val 398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9" name="Google Shape;209;p24"/>
          <p:cNvSpPr/>
          <p:nvPr/>
        </p:nvSpPr>
        <p:spPr>
          <a:xfrm>
            <a:off x="533400" y="3548956"/>
            <a:ext cx="207987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333"/>
              </a:buClr>
              <a:buSzPts val="900"/>
              <a:buFont typeface="Inter"/>
              <a:buNone/>
            </a:pPr>
            <a:r>
              <a:rPr b="1" i="0" lang="en-GB" sz="900" u="none" cap="none" strike="noStrike">
                <a:solidFill>
                  <a:srgbClr val="1B2333"/>
                </a:solidFill>
                <a:latin typeface="Inter"/>
                <a:ea typeface="Inter"/>
                <a:cs typeface="Inter"/>
                <a:sym typeface="Inter"/>
              </a:rPr>
              <a:t>5 · Results</a:t>
            </a:r>
            <a:endParaRPr b="0" i="0" sz="900" u="none" cap="none" strike="noStrike">
              <a:solidFill>
                <a:schemeClr val="dk1"/>
              </a:solidFill>
              <a:latin typeface="Inter"/>
              <a:ea typeface="Inter"/>
              <a:cs typeface="Inter"/>
              <a:sym typeface="Inter"/>
            </a:endParaRPr>
          </a:p>
        </p:txBody>
      </p:sp>
      <p:sp>
        <p:nvSpPr>
          <p:cNvPr id="210" name="Google Shape;210;p24"/>
          <p:cNvSpPr/>
          <p:nvPr/>
        </p:nvSpPr>
        <p:spPr>
          <a:xfrm>
            <a:off x="2552700" y="2425006"/>
            <a:ext cx="1933575" cy="1085850"/>
          </a:xfrm>
          <a:prstGeom prst="roundRect">
            <a:avLst>
              <a:gd fmla="val 4386"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Schematic: embeddings collapsing while the loss falls to zero" id="211" name="Google Shape;211;p24"/>
          <p:cNvPicPr preferRelativeResize="0"/>
          <p:nvPr/>
        </p:nvPicPr>
        <p:blipFill rotWithShape="1">
          <a:blip r:embed="rId8">
            <a:alphaModFix/>
          </a:blip>
          <a:srcRect b="0" l="-474" r="-474" t="0"/>
          <a:stretch/>
        </p:blipFill>
        <p:spPr>
          <a:xfrm>
            <a:off x="2562225" y="2434531"/>
            <a:ext cx="1914525" cy="1066800"/>
          </a:xfrm>
          <a:prstGeom prst="roundRect">
            <a:avLst>
              <a:gd fmla="val 3571" name="adj"/>
            </a:avLst>
          </a:prstGeom>
          <a:noFill/>
          <a:ln>
            <a:noFill/>
          </a:ln>
        </p:spPr>
      </p:pic>
      <p:sp>
        <p:nvSpPr>
          <p:cNvPr id="212" name="Google Shape;212;p24"/>
          <p:cNvSpPr/>
          <p:nvPr/>
        </p:nvSpPr>
        <p:spPr>
          <a:xfrm>
            <a:off x="2557463" y="2429768"/>
            <a:ext cx="1924050" cy="1076325"/>
          </a:xfrm>
          <a:prstGeom prst="roundRect">
            <a:avLst>
              <a:gd fmla="val 398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3" name="Google Shape;213;p24"/>
          <p:cNvSpPr/>
          <p:nvPr/>
        </p:nvSpPr>
        <p:spPr>
          <a:xfrm>
            <a:off x="2552700" y="3548956"/>
            <a:ext cx="207987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333"/>
              </a:buClr>
              <a:buSzPts val="900"/>
              <a:buFont typeface="Inter"/>
              <a:buNone/>
            </a:pPr>
            <a:r>
              <a:rPr b="1" i="0" lang="en-GB" sz="900" u="none" cap="none" strike="noStrike">
                <a:solidFill>
                  <a:srgbClr val="1B2333"/>
                </a:solidFill>
                <a:latin typeface="Inter"/>
                <a:ea typeface="Inter"/>
                <a:cs typeface="Inter"/>
                <a:sym typeface="Inter"/>
              </a:rPr>
              <a:t>6 · Collapse</a:t>
            </a:r>
            <a:endParaRPr b="0" i="0" sz="900" u="none" cap="none" strike="noStrike">
              <a:solidFill>
                <a:schemeClr val="dk1"/>
              </a:solidFill>
              <a:latin typeface="Inter"/>
              <a:ea typeface="Inter"/>
              <a:cs typeface="Inter"/>
              <a:sym typeface="Inter"/>
            </a:endParaRPr>
          </a:p>
        </p:txBody>
      </p:sp>
      <p:sp>
        <p:nvSpPr>
          <p:cNvPr id="214" name="Google Shape;214;p24"/>
          <p:cNvSpPr/>
          <p:nvPr/>
        </p:nvSpPr>
        <p:spPr>
          <a:xfrm>
            <a:off x="4572000" y="2425006"/>
            <a:ext cx="1933575" cy="1085850"/>
          </a:xfrm>
          <a:prstGeom prst="roundRect">
            <a:avLst>
              <a:gd fmla="val 4386"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Charts: accuracy against mask settings (Tables 8 to 10)" id="215" name="Google Shape;215;p24"/>
          <p:cNvPicPr preferRelativeResize="0"/>
          <p:nvPr/>
        </p:nvPicPr>
        <p:blipFill rotWithShape="1">
          <a:blip r:embed="rId9">
            <a:alphaModFix/>
          </a:blip>
          <a:srcRect b="0" l="-474" r="-474" t="0"/>
          <a:stretch/>
        </p:blipFill>
        <p:spPr>
          <a:xfrm>
            <a:off x="4581525" y="2434531"/>
            <a:ext cx="1914525" cy="1066800"/>
          </a:xfrm>
          <a:prstGeom prst="roundRect">
            <a:avLst>
              <a:gd fmla="val 3571" name="adj"/>
            </a:avLst>
          </a:prstGeom>
          <a:noFill/>
          <a:ln>
            <a:noFill/>
          </a:ln>
        </p:spPr>
      </p:pic>
      <p:sp>
        <p:nvSpPr>
          <p:cNvPr id="216" name="Google Shape;216;p24"/>
          <p:cNvSpPr/>
          <p:nvPr/>
        </p:nvSpPr>
        <p:spPr>
          <a:xfrm>
            <a:off x="4576763" y="2429768"/>
            <a:ext cx="1924050" cy="1076325"/>
          </a:xfrm>
          <a:prstGeom prst="roundRect">
            <a:avLst>
              <a:gd fmla="val 398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7" name="Google Shape;217;p24"/>
          <p:cNvSpPr/>
          <p:nvPr/>
        </p:nvSpPr>
        <p:spPr>
          <a:xfrm>
            <a:off x="4572000" y="3548956"/>
            <a:ext cx="207987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333"/>
              </a:buClr>
              <a:buSzPts val="900"/>
              <a:buFont typeface="Inter"/>
              <a:buNone/>
            </a:pPr>
            <a:r>
              <a:rPr b="1" i="0" lang="en-GB" sz="900" u="none" cap="none" strike="noStrike">
                <a:solidFill>
                  <a:srgbClr val="1B2333"/>
                </a:solidFill>
                <a:latin typeface="Inter"/>
                <a:ea typeface="Inter"/>
                <a:cs typeface="Inter"/>
                <a:sym typeface="Inter"/>
              </a:rPr>
              <a:t>7 · Mask settings</a:t>
            </a:r>
            <a:endParaRPr b="0" i="0" sz="900" u="none" cap="none" strike="noStrike">
              <a:solidFill>
                <a:schemeClr val="dk1"/>
              </a:solidFill>
              <a:latin typeface="Inter"/>
              <a:ea typeface="Inter"/>
              <a:cs typeface="Inter"/>
              <a:sym typeface="Inter"/>
            </a:endParaRPr>
          </a:p>
        </p:txBody>
      </p:sp>
      <p:sp>
        <p:nvSpPr>
          <p:cNvPr id="218" name="Google Shape;218;p24"/>
          <p:cNvSpPr/>
          <p:nvPr/>
        </p:nvSpPr>
        <p:spPr>
          <a:xfrm>
            <a:off x="6591300" y="2425006"/>
            <a:ext cx="1933575" cy="1085850"/>
          </a:xfrm>
          <a:prstGeom prst="roundRect">
            <a:avLst>
              <a:gd fmla="val 4386" name="adj"/>
            </a:avLst>
          </a:prstGeom>
          <a:solidFill>
            <a:srgbClr val="FBFAF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Dot plot: I-JEPA against the best other method on eight benchmarks" id="219" name="Google Shape;219;p24"/>
          <p:cNvPicPr preferRelativeResize="0"/>
          <p:nvPr/>
        </p:nvPicPr>
        <p:blipFill rotWithShape="1">
          <a:blip r:embed="rId10">
            <a:alphaModFix/>
          </a:blip>
          <a:srcRect b="0" l="-474" r="-474" t="0"/>
          <a:stretch/>
        </p:blipFill>
        <p:spPr>
          <a:xfrm>
            <a:off x="6600825" y="2434531"/>
            <a:ext cx="1914525" cy="1066800"/>
          </a:xfrm>
          <a:prstGeom prst="roundRect">
            <a:avLst>
              <a:gd fmla="val 3571" name="adj"/>
            </a:avLst>
          </a:prstGeom>
          <a:noFill/>
          <a:ln>
            <a:noFill/>
          </a:ln>
        </p:spPr>
      </p:pic>
      <p:sp>
        <p:nvSpPr>
          <p:cNvPr id="220" name="Google Shape;220;p24"/>
          <p:cNvSpPr/>
          <p:nvPr/>
        </p:nvSpPr>
        <p:spPr>
          <a:xfrm>
            <a:off x="6596063" y="2429768"/>
            <a:ext cx="1924050" cy="1076325"/>
          </a:xfrm>
          <a:prstGeom prst="roundRect">
            <a:avLst>
              <a:gd fmla="val 3982" name="adj"/>
            </a:avLst>
          </a:prstGeom>
          <a:noFill/>
          <a:ln cap="flat" cmpd="sng" w="12700">
            <a:solidFill>
              <a:srgbClr val="E2DED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1" name="Google Shape;221;p24"/>
          <p:cNvSpPr/>
          <p:nvPr/>
        </p:nvSpPr>
        <p:spPr>
          <a:xfrm>
            <a:off x="6591300" y="3548956"/>
            <a:ext cx="207987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333"/>
              </a:buClr>
              <a:buSzPts val="900"/>
              <a:buFont typeface="Inter"/>
              <a:buNone/>
            </a:pPr>
            <a:r>
              <a:rPr b="1" i="0" lang="en-GB" sz="900" u="none" cap="none" strike="noStrike">
                <a:solidFill>
                  <a:srgbClr val="1B2333"/>
                </a:solidFill>
                <a:latin typeface="Inter"/>
                <a:ea typeface="Inter"/>
                <a:cs typeface="Inter"/>
                <a:sym typeface="Inter"/>
              </a:rPr>
              <a:t>8 · Gains</a:t>
            </a:r>
            <a:endParaRPr b="0" i="0" sz="900" u="none" cap="none" strike="noStrike">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JEPA, Animated">
  <a:themeElements>
    <a:clrScheme name="I-JEPA, Animated">
      <a:dk1>
        <a:srgbClr val="1B2333"/>
      </a:dk1>
      <a:lt1>
        <a:srgbClr val="F4F1EA"/>
      </a:lt1>
      <a:dk2>
        <a:srgbClr val="515761"/>
      </a:dk2>
      <a:lt2>
        <a:srgbClr val="DEDCD8"/>
      </a:lt2>
      <a:accent1>
        <a:srgbClr val="6A45BF"/>
      </a:accent1>
      <a:accent2>
        <a:srgbClr val="A8540F"/>
      </a:accent2>
      <a:accent3>
        <a:srgbClr val="2558B8"/>
      </a:accent3>
      <a:accent4>
        <a:srgbClr val="1D7A52"/>
      </a:accent4>
      <a:accent5>
        <a:srgbClr val="4A5263"/>
      </a:accent5>
      <a:accent6>
        <a:srgbClr val="6B728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