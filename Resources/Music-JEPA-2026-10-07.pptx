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embeddedFontLst>
    <p:embeddedFont>
      <p:font typeface="Merriweather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142ABED-A6D5-4705-BA13-2877D4BD2682}">
  <a:tblStyle styleId="{F142ABED-A6D5-4705-BA13-2877D4BD268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erriweather-regular.fntdata"/><Relationship Id="rId11" Type="http://schemas.openxmlformats.org/officeDocument/2006/relationships/slide" Target="slides/slide5.xml"/><Relationship Id="rId22" Type="http://schemas.openxmlformats.org/officeDocument/2006/relationships/font" Target="fonts/Merriweather-italic.fntdata"/><Relationship Id="rId10" Type="http://schemas.openxmlformats.org/officeDocument/2006/relationships/slide" Target="slides/slide4.xml"/><Relationship Id="rId21" Type="http://schemas.openxmlformats.org/officeDocument/2006/relationships/font" Target="fonts/Merriweather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font" Target="fonts/Merriweather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s01_slide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s01_slide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s03_slide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s03_slide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A world model is a model of how an environment changes over time in response to actions. next state = f(current state, action). In current context, it’s helpful as it can allow an agent to simulate an action and see a predicted response before acting in the world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A generative model learns what piano music sounds like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A world model learns what happens to the music when you perform an action (like pressing keys)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JEPA does prediction in the latent space instead of raw audio (actually, pixel) space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h3bc21e2d667d171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h3bc21e2d667d171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JEPA: prediction is done in the embedding space, so audio does not need to be generated during training and you can have a smaller model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h3bc21e2d667d1718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h3bc21e2d667d1718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h3bc21e2d667d1718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h3bc21e2d667d1718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256x256 embedding matrix is passed to the Transformer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h7ba20ea0cc2ca9fa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h7ba20ea0cc2ca9f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s04_slide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s04_slide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s08_slide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s08_slide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s09_slide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s09_slide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s10_slide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s10_slide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s11_slide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s11_slide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h7ba20ea0cc2ca9f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h7ba20ea0cc2ca9f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s12_slide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s12_slide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gif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B36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457200" y="1188720"/>
            <a:ext cx="82296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40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Music-JEPA</a:t>
            </a:r>
            <a:endParaRPr b="1" sz="4400">
              <a:solidFill>
                <a:srgbClr val="FFFFFF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457200" y="205740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D6DEE5"/>
                </a:solidFill>
              </a:rPr>
              <a:t>Learning a world model of sound from action</a:t>
            </a:r>
            <a:endParaRPr sz="2400">
              <a:solidFill>
                <a:srgbClr val="D6DEE5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457200" y="3017520"/>
            <a:ext cx="822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A9B6C2"/>
                </a:solidFill>
              </a:rPr>
              <a:t>Ziyu Wang, Kun Fang, Yann LeCun  ·  arXiv, July 2026</a:t>
            </a:r>
            <a:endParaRPr sz="1600">
              <a:solidFill>
                <a:srgbClr val="A9B6C2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457200" y="3429000"/>
            <a:ext cx="822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A9B6C2"/>
                </a:solidFill>
              </a:rPr>
              <a:t>IRCAM Machine Learning Reading Group  ·  presented by Luke Dzwonczyk</a:t>
            </a:r>
            <a:endParaRPr sz="1600">
              <a:solidFill>
                <a:srgbClr val="A9B6C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/>
        </p:nvSpPr>
        <p:spPr>
          <a:xfrm>
            <a:off x="457200" y="365760"/>
            <a:ext cx="82296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1F2933"/>
                </a:solidFill>
                <a:latin typeface="Merriweather"/>
                <a:ea typeface="Merriweather"/>
                <a:cs typeface="Merriweather"/>
                <a:sym typeface="Merriweather"/>
              </a:rPr>
              <a:t>A world model predicts how the world responds to an action</a:t>
            </a:r>
            <a:endParaRPr b="1" sz="2800">
              <a:solidFill>
                <a:srgbClr val="1F2933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63" name="Google Shape;63;p14"/>
          <p:cNvSpPr/>
          <p:nvPr/>
        </p:nvSpPr>
        <p:spPr>
          <a:xfrm>
            <a:off x="1371600" y="2724140"/>
            <a:ext cx="6400800" cy="777300"/>
          </a:xfrm>
          <a:prstGeom prst="roundRect">
            <a:avLst>
              <a:gd fmla="val 16667" name="adj"/>
            </a:avLst>
          </a:prstGeom>
          <a:solidFill>
            <a:srgbClr val="EEF0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1F2933"/>
                </a:solidFill>
                <a:latin typeface="Merriweather"/>
                <a:ea typeface="Merriweather"/>
                <a:cs typeface="Merriweather"/>
                <a:sym typeface="Merriweather"/>
              </a:rPr>
              <a:t>next state = f(current state, action)</a:t>
            </a:r>
            <a:endParaRPr sz="2400">
              <a:solidFill>
                <a:srgbClr val="1F2933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 title="Screenshot 2026-10-06 at 3.51.0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5650" y="1039838"/>
            <a:ext cx="3723549" cy="3887474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/>
          <p:nvPr/>
        </p:nvSpPr>
        <p:spPr>
          <a:xfrm>
            <a:off x="711178" y="1710279"/>
            <a:ext cx="3886200" cy="1920300"/>
          </a:xfrm>
          <a:prstGeom prst="roundRect">
            <a:avLst>
              <a:gd fmla="val 16667" name="adj"/>
            </a:avLst>
          </a:prstGeom>
          <a:solidFill>
            <a:srgbClr val="E4ED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F2933"/>
              </a:solidFill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991850" y="2081288"/>
            <a:ext cx="34899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1F2933"/>
                </a:solidFill>
                <a:latin typeface="Merriweather"/>
                <a:ea typeface="Merriweather"/>
                <a:cs typeface="Merriweather"/>
                <a:sym typeface="Merriweather"/>
              </a:rPr>
              <a:t>State: 2 seconds of audio</a:t>
            </a:r>
            <a:endParaRPr b="1" sz="2000">
              <a:solidFill>
                <a:srgbClr val="1F2933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1F2933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1F2933"/>
                </a:solidFill>
                <a:latin typeface="Merriweather"/>
                <a:ea typeface="Merriweather"/>
                <a:cs typeface="Merriweather"/>
                <a:sym typeface="Merriweather"/>
              </a:rPr>
              <a:t>Action: 2 seconds of MIDI</a:t>
            </a:r>
            <a:endParaRPr b="1" sz="2000">
              <a:solidFill>
                <a:srgbClr val="1F2933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412675" y="3911963"/>
            <a:ext cx="4483200" cy="777300"/>
          </a:xfrm>
          <a:prstGeom prst="roundRect">
            <a:avLst>
              <a:gd fmla="val 16667" name="adj"/>
            </a:avLst>
          </a:prstGeom>
          <a:solidFill>
            <a:srgbClr val="EEF0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1F2933"/>
                </a:solidFill>
                <a:latin typeface="Merriweather"/>
                <a:ea typeface="Merriweather"/>
                <a:cs typeface="Merriweather"/>
                <a:sym typeface="Merriweather"/>
              </a:rPr>
              <a:t>next audio = f(current audio, next action)</a:t>
            </a:r>
            <a:endParaRPr sz="1700">
              <a:solidFill>
                <a:srgbClr val="1F2933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457200" y="365760"/>
            <a:ext cx="82296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1F2933"/>
                </a:solidFill>
                <a:latin typeface="Merriweather"/>
                <a:ea typeface="Merriweather"/>
                <a:cs typeface="Merriweather"/>
                <a:sym typeface="Merriweather"/>
              </a:rPr>
              <a:t>Music-JEPA learns to predict (embedded) piano sounds by predicting what MIDI will sound like</a:t>
            </a:r>
            <a:endParaRPr b="1" sz="2200">
              <a:solidFill>
                <a:srgbClr val="1F2933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/>
        </p:nvSpPr>
        <p:spPr>
          <a:xfrm>
            <a:off x="457200" y="365760"/>
            <a:ext cx="82296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1F2933"/>
                </a:solidFill>
                <a:latin typeface="Merriweather"/>
                <a:ea typeface="Merriweather"/>
                <a:cs typeface="Merriweather"/>
                <a:sym typeface="Merriweather"/>
              </a:rPr>
              <a:t>Data</a:t>
            </a:r>
            <a:endParaRPr b="1" sz="2800">
              <a:solidFill>
                <a:srgbClr val="1F2933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2606108" y="1497029"/>
            <a:ext cx="3931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2F6690"/>
                </a:solidFill>
              </a:rPr>
              <a:t>State: 2 seconds of audio</a:t>
            </a:r>
            <a:endParaRPr b="1" sz="1800">
              <a:solidFill>
                <a:srgbClr val="2F6690"/>
              </a:solidFill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2606108" y="1954229"/>
            <a:ext cx="3931800" cy="685800"/>
          </a:xfrm>
          <a:prstGeom prst="roundRect">
            <a:avLst>
              <a:gd fmla="val 16667" name="adj"/>
            </a:avLst>
          </a:prstGeom>
          <a:solidFill>
            <a:srgbClr val="E4ED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1F2933"/>
                </a:solidFill>
              </a:rPr>
              <a:t>Log-mel spectrogram</a:t>
            </a:r>
            <a:endParaRPr b="1" sz="1500">
              <a:solidFill>
                <a:srgbClr val="1F293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F2933"/>
                </a:solidFill>
              </a:rPr>
              <a:t>200 frames × 229 mel bins</a:t>
            </a:r>
            <a:endParaRPr>
              <a:solidFill>
                <a:srgbClr val="1F2933"/>
              </a:solidFill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2606108" y="2868629"/>
            <a:ext cx="3931800" cy="685800"/>
          </a:xfrm>
          <a:prstGeom prst="roundRect">
            <a:avLst>
              <a:gd fmla="val 16667" name="adj"/>
            </a:avLst>
          </a:prstGeom>
          <a:solidFill>
            <a:srgbClr val="E4ED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1F2933"/>
                </a:solidFill>
              </a:rPr>
              <a:t>Patch and embed</a:t>
            </a:r>
            <a:endParaRPr b="1" sz="1500">
              <a:solidFill>
                <a:srgbClr val="1F293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F2933"/>
                </a:solidFill>
              </a:rPr>
              <a:t>16 × 16 patches, each embedded (256-dim)</a:t>
            </a:r>
            <a:endParaRPr>
              <a:solidFill>
                <a:srgbClr val="1F2933"/>
              </a:solidFill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2606108" y="3783029"/>
            <a:ext cx="3931800" cy="685800"/>
          </a:xfrm>
          <a:prstGeom prst="roundRect">
            <a:avLst>
              <a:gd fmla="val 16667" name="adj"/>
            </a:avLst>
          </a:prstGeom>
          <a:solidFill>
            <a:srgbClr val="E4ED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1F2933"/>
                </a:solidFill>
              </a:rPr>
              <a:t>256 tokens × 256 dims</a:t>
            </a:r>
            <a:endParaRPr b="1" sz="1500">
              <a:solidFill>
                <a:srgbClr val="1F293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F2933"/>
                </a:solidFill>
              </a:rPr>
              <a:t>conv projection + positions</a:t>
            </a:r>
            <a:endParaRPr>
              <a:solidFill>
                <a:srgbClr val="1F2933"/>
              </a:solidFill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457200" y="96018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B6770"/>
                </a:solidFill>
              </a:rPr>
              <a:t>Dataset: MAESTRO v3, about 200 h of Disklavier piano with aligned MIDI, mostly classical.</a:t>
            </a:r>
            <a:endParaRPr sz="1200">
              <a:solidFill>
                <a:srgbClr val="5B6770"/>
              </a:solidFill>
            </a:endParaRPr>
          </a:p>
        </p:txBody>
      </p:sp>
      <p:cxnSp>
        <p:nvCxnSpPr>
          <p:cNvPr id="83" name="Google Shape;83;p16"/>
          <p:cNvCxnSpPr/>
          <p:nvPr/>
        </p:nvCxnSpPr>
        <p:spPr>
          <a:xfrm>
            <a:off x="4572068" y="2640029"/>
            <a:ext cx="0" cy="228600"/>
          </a:xfrm>
          <a:prstGeom prst="straightConnector1">
            <a:avLst/>
          </a:prstGeom>
          <a:noFill/>
          <a:ln cap="flat" cmpd="sng" w="19050">
            <a:solidFill>
              <a:srgbClr val="7A879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4" name="Google Shape;84;p16"/>
          <p:cNvCxnSpPr/>
          <p:nvPr/>
        </p:nvCxnSpPr>
        <p:spPr>
          <a:xfrm>
            <a:off x="4572068" y="3554429"/>
            <a:ext cx="0" cy="228600"/>
          </a:xfrm>
          <a:prstGeom prst="straightConnector1">
            <a:avLst/>
          </a:prstGeom>
          <a:noFill/>
          <a:ln cap="flat" cmpd="sng" w="19050">
            <a:solidFill>
              <a:srgbClr val="7A879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7" title="spectrogram_patch_embedding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4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7"/>
          <p:cNvSpPr txBox="1"/>
          <p:nvPr/>
        </p:nvSpPr>
        <p:spPr>
          <a:xfrm>
            <a:off x="457200" y="365760"/>
            <a:ext cx="82296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1F2933"/>
                </a:solidFill>
                <a:latin typeface="Merriweather"/>
                <a:ea typeface="Merriweather"/>
                <a:cs typeface="Merriweather"/>
                <a:sym typeface="Merriweather"/>
              </a:rPr>
              <a:t>Data preparation</a:t>
            </a:r>
            <a:endParaRPr b="1" sz="2800">
              <a:solidFill>
                <a:srgbClr val="1F2933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8" title="Screenshot 2026-10-06 at 9.29.1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6375" y="720650"/>
            <a:ext cx="6140002" cy="39371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8"/>
          <p:cNvSpPr txBox="1"/>
          <p:nvPr/>
        </p:nvSpPr>
        <p:spPr>
          <a:xfrm>
            <a:off x="1315650" y="4603050"/>
            <a:ext cx="65127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A. Dosovitskiy, et al. “An image is worth 16x16 words: Transformers for image recognition at scale,” in ICLR 2021,https://openreview.net/forum?id=YicbFdNTTy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97" name="Google Shape;97;p18"/>
          <p:cNvSpPr txBox="1"/>
          <p:nvPr/>
        </p:nvSpPr>
        <p:spPr>
          <a:xfrm>
            <a:off x="457200" y="365760"/>
            <a:ext cx="82296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1F2933"/>
                </a:solidFill>
                <a:latin typeface="Merriweather"/>
                <a:ea typeface="Merriweather"/>
                <a:cs typeface="Merriweather"/>
                <a:sym typeface="Merriweather"/>
              </a:rPr>
              <a:t>Architecture (19M parameters)</a:t>
            </a:r>
            <a:endParaRPr b="1" sz="2800">
              <a:solidFill>
                <a:srgbClr val="1F2933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/>
        </p:nvSpPr>
        <p:spPr>
          <a:xfrm>
            <a:off x="457200" y="365760"/>
            <a:ext cx="82296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1F2933"/>
                </a:solidFill>
                <a:latin typeface="Merriweather"/>
                <a:ea typeface="Merriweather"/>
                <a:cs typeface="Merriweather"/>
                <a:sym typeface="Merriweather"/>
              </a:rPr>
              <a:t>JEPA predicts embeddings, so it never reconstructs audio in training</a:t>
            </a:r>
            <a:endParaRPr b="1" sz="2800">
              <a:solidFill>
                <a:srgbClr val="1F2933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03" name="Google Shape;103;p19"/>
          <p:cNvSpPr/>
          <p:nvPr/>
        </p:nvSpPr>
        <p:spPr>
          <a:xfrm>
            <a:off x="457200" y="2117415"/>
            <a:ext cx="3931800" cy="1463100"/>
          </a:xfrm>
          <a:prstGeom prst="roundRect">
            <a:avLst>
              <a:gd fmla="val 16667" name="adj"/>
            </a:avLst>
          </a:prstGeom>
          <a:solidFill>
            <a:srgbClr val="E4ED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2F6690"/>
                </a:solidFill>
              </a:rPr>
              <a:t>Joint-embedding prediction (JEPA)</a:t>
            </a:r>
            <a:endParaRPr b="1" sz="1700">
              <a:solidFill>
                <a:srgbClr val="2F66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F2933"/>
                </a:solidFill>
              </a:rPr>
              <a:t>Encode context and target separately, predict the target's embedding, compare in latent space.</a:t>
            </a:r>
            <a:endParaRPr sz="1500">
              <a:solidFill>
                <a:srgbClr val="1F2933"/>
              </a:solidFill>
            </a:endParaRPr>
          </a:p>
        </p:txBody>
      </p:sp>
      <p:sp>
        <p:nvSpPr>
          <p:cNvPr id="104" name="Google Shape;104;p19"/>
          <p:cNvSpPr txBox="1"/>
          <p:nvPr/>
        </p:nvSpPr>
        <p:spPr>
          <a:xfrm>
            <a:off x="4755000" y="2080796"/>
            <a:ext cx="3931800" cy="18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600"/>
              <a:buChar char="●"/>
            </a:pPr>
            <a:r>
              <a:rPr lang="en" sz="1600">
                <a:solidFill>
                  <a:srgbClr val="1F2933"/>
                </a:solidFill>
              </a:rPr>
              <a:t>Fine detail, such as noise or room tone, can be left out of the latent</a:t>
            </a:r>
            <a:endParaRPr sz="1600">
              <a:solidFill>
                <a:srgbClr val="1F2933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600"/>
              <a:buChar char="●"/>
            </a:pPr>
            <a:r>
              <a:rPr lang="en" sz="1600">
                <a:solidFill>
                  <a:srgbClr val="1F2933"/>
                </a:solidFill>
              </a:rPr>
              <a:t>New here: the predictor is conditioned on what the player did</a:t>
            </a:r>
            <a:endParaRPr sz="1600">
              <a:solidFill>
                <a:srgbClr val="1F2933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600"/>
              <a:buChar char="●"/>
            </a:pPr>
            <a:r>
              <a:rPr lang="en" sz="1600">
                <a:solidFill>
                  <a:srgbClr val="1F2933"/>
                </a:solidFill>
              </a:rPr>
              <a:t>A decoder is trained only afterwards, to listen to predictions</a:t>
            </a:r>
            <a:endParaRPr sz="1600">
              <a:solidFill>
                <a:srgbClr val="1F2933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AFAFA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/>
        </p:nvSpPr>
        <p:spPr>
          <a:xfrm>
            <a:off x="457200" y="365760"/>
            <a:ext cx="82296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1F2933"/>
                </a:solidFill>
                <a:latin typeface="Merriweather"/>
                <a:ea typeface="Merriweather"/>
                <a:cs typeface="Merriweather"/>
                <a:sym typeface="Merriweather"/>
              </a:rPr>
              <a:t>A student–teacher EMA keeps the embeddings from collapsing</a:t>
            </a:r>
            <a:endParaRPr b="1" sz="2800">
              <a:solidFill>
                <a:srgbClr val="1F2933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10" name="Google Shape;110;p20"/>
          <p:cNvSpPr/>
          <p:nvPr/>
        </p:nvSpPr>
        <p:spPr>
          <a:xfrm>
            <a:off x="457200" y="1508760"/>
            <a:ext cx="3291900" cy="1051500"/>
          </a:xfrm>
          <a:prstGeom prst="roundRect">
            <a:avLst>
              <a:gd fmla="val 16667" name="adj"/>
            </a:avLst>
          </a:prstGeom>
          <a:solidFill>
            <a:srgbClr val="E4ED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2F6690"/>
                </a:solidFill>
              </a:rPr>
              <a:t>Student encoders</a:t>
            </a:r>
            <a:endParaRPr b="1" sz="1700">
              <a:solidFill>
                <a:srgbClr val="2F66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F2933"/>
                </a:solidFill>
              </a:rPr>
              <a:t>Trained by backprop on the prediction loss</a:t>
            </a:r>
            <a:endParaRPr sz="1500">
              <a:solidFill>
                <a:srgbClr val="1F2933"/>
              </a:solidFill>
            </a:endParaRPr>
          </a:p>
        </p:txBody>
      </p:sp>
      <p:sp>
        <p:nvSpPr>
          <p:cNvPr id="111" name="Google Shape;111;p20"/>
          <p:cNvSpPr/>
          <p:nvPr/>
        </p:nvSpPr>
        <p:spPr>
          <a:xfrm>
            <a:off x="457200" y="3429000"/>
            <a:ext cx="3291900" cy="1051500"/>
          </a:xfrm>
          <a:prstGeom prst="roundRect">
            <a:avLst>
              <a:gd fmla="val 16667" name="adj"/>
            </a:avLst>
          </a:prstGeom>
          <a:solidFill>
            <a:srgbClr val="EEF0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5B6770"/>
                </a:solidFill>
              </a:rPr>
              <a:t>Teacher encoders</a:t>
            </a:r>
            <a:endParaRPr b="1" sz="1700">
              <a:solidFill>
                <a:srgbClr val="5B677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F2933"/>
                </a:solidFill>
              </a:rPr>
              <a:t>No gradients; produces the target embeddings</a:t>
            </a:r>
            <a:endParaRPr sz="1500">
              <a:solidFill>
                <a:srgbClr val="1F2933"/>
              </a:solidFill>
            </a:endParaRPr>
          </a:p>
        </p:txBody>
      </p:sp>
      <p:sp>
        <p:nvSpPr>
          <p:cNvPr id="112" name="Google Shape;112;p20"/>
          <p:cNvSpPr txBox="1"/>
          <p:nvPr/>
        </p:nvSpPr>
        <p:spPr>
          <a:xfrm>
            <a:off x="1097280" y="2651760"/>
            <a:ext cx="274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B6770"/>
                </a:solidFill>
              </a:rPr>
              <a:t>EMA after every step</a:t>
            </a:r>
            <a:endParaRPr>
              <a:solidFill>
                <a:srgbClr val="5B677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B6770"/>
                </a:solidFill>
              </a:rPr>
              <a:t>θ̄ ← 0.95·θ̄ + 0.05·θ</a:t>
            </a:r>
            <a:endParaRPr>
              <a:solidFill>
                <a:srgbClr val="5B6770"/>
              </a:solidFill>
            </a:endParaRPr>
          </a:p>
        </p:txBody>
      </p:sp>
      <p:sp>
        <p:nvSpPr>
          <p:cNvPr id="113" name="Google Shape;113;p20"/>
          <p:cNvSpPr txBox="1"/>
          <p:nvPr/>
        </p:nvSpPr>
        <p:spPr>
          <a:xfrm>
            <a:off x="4206240" y="1508760"/>
            <a:ext cx="4480500" cy="30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600"/>
              <a:buChar char="●"/>
            </a:pPr>
            <a:r>
              <a:rPr lang="en" sz="1600">
                <a:solidFill>
                  <a:srgbClr val="1F2933"/>
                </a:solidFill>
              </a:rPr>
              <a:t>Collapse: an encoder that maps every input to one vector drives the latent MSE to zero</a:t>
            </a:r>
            <a:endParaRPr sz="1600">
              <a:solidFill>
                <a:srgbClr val="1F2933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600"/>
              <a:buChar char="●"/>
            </a:pPr>
            <a:r>
              <a:rPr lang="en" sz="1600">
                <a:solidFill>
                  <a:srgbClr val="1F2933"/>
                </a:solidFill>
              </a:rPr>
              <a:t>Targets come from a slow-moving, stop-gradient copy, so the student cannot chase them to a constant</a:t>
            </a:r>
            <a:endParaRPr sz="1600">
              <a:solidFill>
                <a:srgbClr val="1F2933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600"/>
              <a:buChar char="●"/>
            </a:pPr>
            <a:r>
              <a:rPr lang="en" sz="1600">
                <a:solidFill>
                  <a:srgbClr val="1F2933"/>
                </a:solidFill>
              </a:rPr>
              <a:t>LayerNorm on both outputs stops the loss dropping by just rescaling embeddings</a:t>
            </a:r>
            <a:endParaRPr sz="1600">
              <a:solidFill>
                <a:srgbClr val="1F2933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600"/>
              <a:buChar char="●"/>
            </a:pPr>
            <a:r>
              <a:rPr lang="en" sz="1600">
                <a:solidFill>
                  <a:srgbClr val="1F2933"/>
                </a:solidFill>
              </a:rPr>
              <a:t>Loss does not track convergence, so they train a fixed 15–25 epochs</a:t>
            </a:r>
            <a:endParaRPr sz="1600">
              <a:solidFill>
                <a:srgbClr val="1F2933"/>
              </a:solidFill>
            </a:endParaRPr>
          </a:p>
        </p:txBody>
      </p:sp>
      <p:cxnSp>
        <p:nvCxnSpPr>
          <p:cNvPr id="114" name="Google Shape;114;p20"/>
          <p:cNvCxnSpPr/>
          <p:nvPr/>
        </p:nvCxnSpPr>
        <p:spPr>
          <a:xfrm>
            <a:off x="914400" y="2560320"/>
            <a:ext cx="0" cy="868800"/>
          </a:xfrm>
          <a:prstGeom prst="straightConnector1">
            <a:avLst/>
          </a:prstGeom>
          <a:noFill/>
          <a:ln cap="flat" cmpd="sng" w="19050">
            <a:solidFill>
              <a:srgbClr val="7A879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AFAFA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/>
          <p:nvPr/>
        </p:nvSpPr>
        <p:spPr>
          <a:xfrm>
            <a:off x="457200" y="365760"/>
            <a:ext cx="82296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1F2933"/>
                </a:solidFill>
                <a:latin typeface="Merriweather"/>
                <a:ea typeface="Merriweather"/>
                <a:cs typeface="Merriweather"/>
                <a:sym typeface="Merriweather"/>
              </a:rPr>
              <a:t>Actions let the model pick the true next state over nearby ones</a:t>
            </a:r>
            <a:endParaRPr b="1" sz="2800">
              <a:solidFill>
                <a:srgbClr val="1F2933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graphicFrame>
        <p:nvGraphicFramePr>
          <p:cNvPr id="120" name="Google Shape;120;p21"/>
          <p:cNvGraphicFramePr/>
          <p:nvPr/>
        </p:nvGraphicFramePr>
        <p:xfrm>
          <a:off x="457200" y="1463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{F142ABED-A6D5-4705-BA13-2877D4BD2682}</a:tableStyleId>
              </a:tblPr>
              <a:tblGrid>
                <a:gridCol w="2560300"/>
                <a:gridCol w="1280150"/>
                <a:gridCol w="1097275"/>
              </a:tblGrid>
              <a:tr h="396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Perturbation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Music-JEPA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AO-JEPA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96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Input state, nearby segment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2F6690"/>
                          </a:solidFill>
                        </a:rPr>
                        <a:t>0.93</a:t>
                      </a:r>
                      <a:endParaRPr b="1">
                        <a:solidFill>
                          <a:srgbClr val="2F669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Target state, nearby segment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2F6690"/>
                          </a:solidFill>
                        </a:rPr>
                        <a:t>0.99</a:t>
                      </a:r>
                      <a:endParaRPr b="1">
                        <a:solidFill>
                          <a:srgbClr val="2F669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Input state, random segment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Target state, random segment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0.98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1" name="Google Shape;121;p21"/>
          <p:cNvSpPr txBox="1"/>
          <p:nvPr/>
        </p:nvSpPr>
        <p:spPr>
          <a:xfrm>
            <a:off x="457200" y="4197405"/>
            <a:ext cx="49377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B6770"/>
                </a:solidFill>
              </a:rPr>
              <a:t>Win rate: share of test cases where the perturbed input gives higher prediction error than the correct one (0.5 = chance). AO-JEPA: audio-only JEPA trained on MAESTRO.</a:t>
            </a:r>
            <a:endParaRPr>
              <a:solidFill>
                <a:srgbClr val="5B6770"/>
              </a:solidFill>
            </a:endParaRPr>
          </a:p>
        </p:txBody>
      </p:sp>
      <p:sp>
        <p:nvSpPr>
          <p:cNvPr id="122" name="Google Shape;122;p21"/>
          <p:cNvSpPr txBox="1"/>
          <p:nvPr/>
        </p:nvSpPr>
        <p:spPr>
          <a:xfrm>
            <a:off x="5760720" y="1463040"/>
            <a:ext cx="2926200" cy="31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600"/>
              <a:buChar char="●"/>
            </a:pPr>
            <a:r>
              <a:rPr lang="en" sz="1600">
                <a:solidFill>
                  <a:srgbClr val="1F2933"/>
                </a:solidFill>
              </a:rPr>
              <a:t>Pitch-shifting the MIDI hurts most, especially by a tritone</a:t>
            </a:r>
            <a:endParaRPr sz="1600">
              <a:solidFill>
                <a:srgbClr val="1F2933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600"/>
              <a:buChar char="●"/>
            </a:pPr>
            <a:r>
              <a:rPr lang="en" sz="1600">
                <a:solidFill>
                  <a:srgbClr val="1F2933"/>
                </a:solidFill>
              </a:rPr>
              <a:t>Shifts under 50 ms and 10% velocity or pedal changes barely register</a:t>
            </a:r>
            <a:endParaRPr sz="1600">
              <a:solidFill>
                <a:srgbClr val="1F2933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600"/>
              <a:buChar char="●"/>
            </a:pPr>
            <a:r>
              <a:rPr lang="en" sz="1600">
                <a:solidFill>
                  <a:srgbClr val="1F2933"/>
                </a:solidFill>
              </a:rPr>
              <a:t>Decoded predictions follow counterfactual MIDI such as scales</a:t>
            </a:r>
            <a:endParaRPr sz="1600">
              <a:solidFill>
                <a:srgbClr val="1F2933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/>
          <p:nvPr/>
        </p:nvSpPr>
        <p:spPr>
          <a:xfrm>
            <a:off x="457200" y="365760"/>
            <a:ext cx="82296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1F2933"/>
                </a:solidFill>
                <a:latin typeface="Merriweather"/>
                <a:ea typeface="Merriweather"/>
                <a:cs typeface="Merriweather"/>
                <a:sym typeface="Merriweather"/>
              </a:rPr>
              <a:t>Downstream classification tasks: </a:t>
            </a:r>
            <a:endParaRPr b="1" sz="2800">
              <a:solidFill>
                <a:srgbClr val="1F2933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F2933"/>
                </a:solidFill>
                <a:latin typeface="Merriweather"/>
                <a:ea typeface="Merriweather"/>
                <a:cs typeface="Merriweather"/>
                <a:sym typeface="Merriweather"/>
              </a:rPr>
              <a:t>competitive</a:t>
            </a:r>
            <a:r>
              <a:rPr b="1" lang="en" sz="2400">
                <a:solidFill>
                  <a:srgbClr val="1F2933"/>
                </a:solidFill>
                <a:latin typeface="Merriweather"/>
                <a:ea typeface="Merriweather"/>
                <a:cs typeface="Merriweather"/>
                <a:sym typeface="Merriweather"/>
              </a:rPr>
              <a:t> with MERT at 7% of its size</a:t>
            </a:r>
            <a:endParaRPr b="1" sz="2400">
              <a:solidFill>
                <a:srgbClr val="1F2933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graphicFrame>
        <p:nvGraphicFramePr>
          <p:cNvPr id="128" name="Google Shape;128;p22"/>
          <p:cNvGraphicFramePr/>
          <p:nvPr/>
        </p:nvGraphicFramePr>
        <p:xfrm>
          <a:off x="457200" y="14173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{F142ABED-A6D5-4705-BA13-2877D4BD2682}</a:tableStyleId>
              </a:tblPr>
              <a:tblGrid>
                <a:gridCol w="3840475"/>
                <a:gridCol w="1463025"/>
                <a:gridCol w="1463025"/>
                <a:gridCol w="1463025"/>
              </a:tblGrid>
              <a:tr h="396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Task (metric)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Music-JEPA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AO-JEPA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MERT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96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Beat tracking (F1 at 70 ms)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2F6690"/>
                          </a:solidFill>
                        </a:rPr>
                        <a:t>0.62</a:t>
                      </a:r>
                      <a:endParaRPr b="1">
                        <a:solidFill>
                          <a:srgbClr val="2F669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Composer ID (top-1 accuracy)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2F6690"/>
                          </a:solidFill>
                        </a:rPr>
                        <a:t>0.41</a:t>
                      </a:r>
                      <a:endParaRPr b="1">
                        <a:solidFill>
                          <a:srgbClr val="2F669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6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Composer ID (top-3 accuracy)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2F6690"/>
                          </a:solidFill>
                        </a:rPr>
                        <a:t>0.70</a:t>
                      </a:r>
                      <a:endParaRPr b="1">
                        <a:solidFill>
                          <a:srgbClr val="2F669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Key recognition (weighted F1)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2F6690"/>
                          </a:solidFill>
                        </a:rPr>
                        <a:t>0.76</a:t>
                      </a:r>
                      <a:endParaRPr b="1">
                        <a:solidFill>
                          <a:srgbClr val="2F669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2F6690"/>
                          </a:solidFill>
                        </a:rPr>
                        <a:t>0.76</a:t>
                      </a:r>
                      <a:endParaRPr b="1">
                        <a:solidFill>
                          <a:srgbClr val="2F669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Encoder parameters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95M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 txBox="1"/>
          <p:nvPr/>
        </p:nvSpPr>
        <p:spPr>
          <a:xfrm>
            <a:off x="457200" y="365760"/>
            <a:ext cx="82296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1F2933"/>
                </a:solidFill>
                <a:latin typeface="Merriweather"/>
                <a:ea typeface="Merriweather"/>
                <a:cs typeface="Merriweather"/>
                <a:sym typeface="Merriweather"/>
              </a:rPr>
              <a:t>Running the model backwards gives transcription: weak on notes, best on pedal</a:t>
            </a:r>
            <a:endParaRPr b="1" sz="2800">
              <a:solidFill>
                <a:srgbClr val="1F2933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34" name="Google Shape;134;p23"/>
          <p:cNvSpPr/>
          <p:nvPr/>
        </p:nvSpPr>
        <p:spPr>
          <a:xfrm>
            <a:off x="457150" y="1796340"/>
            <a:ext cx="3840600" cy="685800"/>
          </a:xfrm>
          <a:prstGeom prst="roundRect">
            <a:avLst>
              <a:gd fmla="val 16667" name="adj"/>
            </a:avLst>
          </a:prstGeom>
          <a:solidFill>
            <a:srgbClr val="E4ED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1F2933"/>
                </a:solidFill>
              </a:rPr>
              <a:t>(sₜ, sₜ₊₁, aₜ)</a:t>
            </a:r>
            <a:endParaRPr b="1" sz="1600">
              <a:solidFill>
                <a:srgbClr val="1F293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F2933"/>
                </a:solidFill>
              </a:rPr>
              <a:t>current + next audio, previous MIDI</a:t>
            </a:r>
            <a:endParaRPr>
              <a:solidFill>
                <a:srgbClr val="1F2933"/>
              </a:solidFill>
            </a:endParaRPr>
          </a:p>
        </p:txBody>
      </p:sp>
      <p:sp>
        <p:nvSpPr>
          <p:cNvPr id="135" name="Google Shape;135;p23"/>
          <p:cNvSpPr/>
          <p:nvPr/>
        </p:nvSpPr>
        <p:spPr>
          <a:xfrm>
            <a:off x="457150" y="2710740"/>
            <a:ext cx="3840600" cy="685800"/>
          </a:xfrm>
          <a:prstGeom prst="roundRect">
            <a:avLst>
              <a:gd fmla="val 16667" name="adj"/>
            </a:avLst>
          </a:prstGeom>
          <a:solidFill>
            <a:srgbClr val="EEF0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2F6690"/>
                </a:solidFill>
              </a:rPr>
              <a:t>h</a:t>
            </a:r>
            <a:endParaRPr b="1" sz="1800">
              <a:solidFill>
                <a:srgbClr val="2F669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F2933"/>
                </a:solidFill>
              </a:rPr>
              <a:t>inverse predictor; the JEPA stays frozen</a:t>
            </a:r>
            <a:endParaRPr>
              <a:solidFill>
                <a:srgbClr val="1F2933"/>
              </a:solidFill>
            </a:endParaRPr>
          </a:p>
        </p:txBody>
      </p:sp>
      <p:sp>
        <p:nvSpPr>
          <p:cNvPr id="136" name="Google Shape;136;p23"/>
          <p:cNvSpPr/>
          <p:nvPr/>
        </p:nvSpPr>
        <p:spPr>
          <a:xfrm>
            <a:off x="457150" y="3625140"/>
            <a:ext cx="3840600" cy="685800"/>
          </a:xfrm>
          <a:prstGeom prst="roundRect">
            <a:avLst>
              <a:gd fmla="val 16667" name="adj"/>
            </a:avLst>
          </a:prstGeom>
          <a:solidFill>
            <a:srgbClr val="E6EF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1F2933"/>
                </a:solidFill>
              </a:rPr>
              <a:t>âₜ₊₁</a:t>
            </a:r>
            <a:endParaRPr b="1" sz="1600">
              <a:solidFill>
                <a:srgbClr val="1F293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F2933"/>
                </a:solidFill>
              </a:rPr>
              <a:t>predicted next MIDI</a:t>
            </a:r>
            <a:endParaRPr>
              <a:solidFill>
                <a:srgbClr val="1F2933"/>
              </a:solidFill>
            </a:endParaRPr>
          </a:p>
        </p:txBody>
      </p:sp>
      <p:graphicFrame>
        <p:nvGraphicFramePr>
          <p:cNvPr id="137" name="Google Shape;137;p23"/>
          <p:cNvGraphicFramePr/>
          <p:nvPr/>
        </p:nvGraphicFramePr>
        <p:xfrm>
          <a:off x="4663440" y="1463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{F142ABED-A6D5-4705-BA13-2877D4BD2682}</a:tableStyleId>
              </a:tblPr>
              <a:tblGrid>
                <a:gridCol w="1737350"/>
                <a:gridCol w="1005825"/>
                <a:gridCol w="1280150"/>
              </a:tblGrid>
              <a:tr h="396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Model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Onset F1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Pedal MAE ↓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96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Music-JEPA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2F6690"/>
                          </a:solidFill>
                        </a:rPr>
                        <a:t>0.122</a:t>
                      </a:r>
                      <a:endParaRPr b="1">
                        <a:solidFill>
                          <a:srgbClr val="2F669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6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Kong et al.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0.147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Yan et al.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0.141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Zhang et al.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—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0.134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38" name="Google Shape;138;p23"/>
          <p:cNvSpPr txBox="1"/>
          <p:nvPr/>
        </p:nvSpPr>
        <p:spPr>
          <a:xfrm>
            <a:off x="4663440" y="3611880"/>
            <a:ext cx="40233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F2933"/>
                </a:solidFill>
              </a:rPr>
              <a:t>Far behind supervised transcription on notes, but best on continuous pedal, which has a large, direct effect on the sound.</a:t>
            </a:r>
            <a:endParaRPr sz="1500">
              <a:solidFill>
                <a:srgbClr val="1F2933"/>
              </a:solidFill>
            </a:endParaRPr>
          </a:p>
        </p:txBody>
      </p:sp>
      <p:cxnSp>
        <p:nvCxnSpPr>
          <p:cNvPr id="139" name="Google Shape;139;p23"/>
          <p:cNvCxnSpPr/>
          <p:nvPr/>
        </p:nvCxnSpPr>
        <p:spPr>
          <a:xfrm>
            <a:off x="2377440" y="2457440"/>
            <a:ext cx="0" cy="228600"/>
          </a:xfrm>
          <a:prstGeom prst="straightConnector1">
            <a:avLst/>
          </a:prstGeom>
          <a:noFill/>
          <a:ln cap="flat" cmpd="sng" w="19050">
            <a:solidFill>
              <a:srgbClr val="7A879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0" name="Google Shape;140;p23"/>
          <p:cNvCxnSpPr/>
          <p:nvPr/>
        </p:nvCxnSpPr>
        <p:spPr>
          <a:xfrm>
            <a:off x="2377440" y="3396540"/>
            <a:ext cx="0" cy="228600"/>
          </a:xfrm>
          <a:prstGeom prst="straightConnector1">
            <a:avLst/>
          </a:prstGeom>
          <a:noFill/>
          <a:ln cap="flat" cmpd="sng" w="19050">
            <a:solidFill>
              <a:srgbClr val="7A879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4"/>
          <p:cNvSpPr txBox="1"/>
          <p:nvPr/>
        </p:nvSpPr>
        <p:spPr>
          <a:xfrm>
            <a:off x="457200" y="365760"/>
            <a:ext cx="82296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1F2933"/>
                </a:solidFill>
                <a:latin typeface="Merriweather"/>
                <a:ea typeface="Merriweather"/>
                <a:cs typeface="Merriweather"/>
                <a:sym typeface="Merriweather"/>
              </a:rPr>
              <a:t>Takeaways</a:t>
            </a:r>
            <a:endParaRPr b="1" sz="2800">
              <a:solidFill>
                <a:srgbClr val="1F2933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46" name="Google Shape;146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erriweather"/>
              <a:buChar char="●"/>
            </a:pPr>
            <a:r>
              <a:rPr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Learning audio and MIDI together improves performance compared to an audio-only model</a:t>
            </a:r>
            <a:endParaRPr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erriweather"/>
              <a:buChar char="●"/>
            </a:pPr>
            <a:r>
              <a:rPr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Similar performance on downstream classification tasks compared to MERT, with only 7% of the parameters </a:t>
            </a:r>
            <a:endParaRPr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erriweather"/>
              <a:buChar char="●"/>
            </a:pPr>
            <a:r>
              <a:rPr lang="en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More efficient training (less epochs required)</a:t>
            </a:r>
            <a:endParaRPr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B36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5"/>
          <p:cNvSpPr txBox="1"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My Questions</a:t>
            </a:r>
            <a:endParaRPr b="1" sz="3200">
              <a:solidFill>
                <a:srgbClr val="FFFFFF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52" name="Google Shape;152;p25"/>
          <p:cNvSpPr txBox="1"/>
          <p:nvPr/>
        </p:nvSpPr>
        <p:spPr>
          <a:xfrm>
            <a:off x="457200" y="1325880"/>
            <a:ext cx="8229600" cy="33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E8EDF1"/>
              </a:buClr>
              <a:buSzPts val="1800"/>
              <a:buChar char="●"/>
            </a:pPr>
            <a:r>
              <a:rPr lang="en" sz="1800">
                <a:solidFill>
                  <a:srgbClr val="E8EDF1"/>
                </a:solidFill>
              </a:rPr>
              <a:t>Why use image ViTs rather than an audio </a:t>
            </a:r>
            <a:r>
              <a:rPr lang="en" sz="1800">
                <a:solidFill>
                  <a:srgbClr val="E8EDF1"/>
                </a:solidFill>
              </a:rPr>
              <a:t>encoder</a:t>
            </a:r>
            <a:r>
              <a:rPr lang="en" sz="1800">
                <a:solidFill>
                  <a:srgbClr val="E8EDF1"/>
                </a:solidFill>
              </a:rPr>
              <a:t>? Would we get better results with an audio encoder?</a:t>
            </a:r>
            <a:endParaRPr sz="1800">
              <a:solidFill>
                <a:srgbClr val="E8EDF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E8EDF1"/>
              </a:buClr>
              <a:buSzPts val="1800"/>
              <a:buChar char="●"/>
            </a:pPr>
            <a:r>
              <a:rPr lang="en" sz="1800">
                <a:solidFill>
                  <a:srgbClr val="E8EDF1"/>
                </a:solidFill>
              </a:rPr>
              <a:t>How is this similar or different to a semantic autoencoder? (What is a semantic autoencoder?)</a:t>
            </a:r>
            <a:endParaRPr sz="1800">
              <a:solidFill>
                <a:srgbClr val="E8EDF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E8EDF1"/>
              </a:buClr>
              <a:buSzPts val="1800"/>
              <a:buChar char="●"/>
            </a:pPr>
            <a:r>
              <a:rPr lang="en" sz="1800">
                <a:solidFill>
                  <a:srgbClr val="E8EDF1"/>
                </a:solidFill>
              </a:rPr>
              <a:t>The main advantage is a smaller model and efficiency in training, how could this be useful in audio generation? </a:t>
            </a:r>
            <a:endParaRPr sz="1800">
              <a:solidFill>
                <a:srgbClr val="E8EDF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